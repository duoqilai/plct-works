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56" r:id="rId3"/>
    <p:sldId id="257" r:id="rId4"/>
    <p:sldId id="258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2" userDrawn="1">
          <p15:clr>
            <a:srgbClr val="A4A3A4"/>
          </p15:clr>
        </p15:guide>
        <p15:guide id="2" pos="38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35" y="57"/>
      </p:cViewPr>
      <p:guideLst>
        <p:guide orient="horz" pos="2072"/>
        <p:guide pos="3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uyisdk.org/docs/Package-Manager/installation" TargetMode="External"/><Relationship Id="rId2" Type="http://schemas.openxmlformats.org/officeDocument/2006/relationships/hyperlink" Target="https://ruyisdk.org/docs/Package-Manager/cases/case2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uyisdk.org/docs/Package-Manager/cases/case3" TargetMode="External"/><Relationship Id="rId2" Type="http://schemas.openxmlformats.org/officeDocument/2006/relationships/hyperlink" Target="https://ruyisdk.org/docs/Package-Manager/intergr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rix.ruyisdk.org/%0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uyisdk.org/docs/VSCode-Plugins/" TargetMode="External"/><Relationship Id="rId2" Type="http://schemas.openxmlformats.org/officeDocument/2006/relationships/hyperlink" Target="https://ruyisdk.org/docs/VSCode-Plugins/install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uyisdk/ruyisdk-vscode-extension/release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github.com/cuberite/cuberit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atrix.ruyisdk.org/zh-CN/boards/Duo_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huizhang_chen/vk-quake" TargetMode="External"/><Relationship Id="rId7" Type="http://schemas.openxmlformats.org/officeDocument/2006/relationships/image" Target="../media/image17.jpeg"/><Relationship Id="rId2" Type="http://schemas.openxmlformats.org/officeDocument/2006/relationships/hyperlink" Target="https://gitee.com/huizhang_chen/luanti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hyperlink" Target="https://gitee.com/huizhang_chen/picodrive" TargetMode="External"/><Relationship Id="rId7" Type="http://schemas.openxmlformats.org/officeDocument/2006/relationships/image" Target="../media/image21.png"/><Relationship Id="rId2" Type="http://schemas.openxmlformats.org/officeDocument/2006/relationships/hyperlink" Target="https://gitee.com/huizhang_chen/game_doc/blob/master/LaiNES.md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414" y="1507132"/>
            <a:ext cx="1341259" cy="1341259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1325367" y="1132008"/>
            <a:ext cx="9883656" cy="2091508"/>
          </a:xfrm>
          <a:prstGeom prst="roundRect">
            <a:avLst>
              <a:gd name="adj" fmla="val 0"/>
            </a:avLst>
          </a:prstGeom>
          <a:solidFill>
            <a:schemeClr val="bg2">
              <a:alpha val="30000"/>
            </a:schemeClr>
          </a:soli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algn="ctr"/>
            <a:r>
              <a:rPr lang="en-US" altLang="zh-CN" sz="4400" dirty="0">
                <a:latin typeface="+mj-lt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    </a:t>
            </a:r>
            <a:r>
              <a:rPr lang="en-US" altLang="zh-CN" sz="4400" dirty="0" err="1">
                <a:latin typeface="+mj-lt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RuyiSDK</a:t>
            </a:r>
            <a:r>
              <a:rPr lang="en-US" altLang="zh-CN" sz="4400" dirty="0">
                <a:latin typeface="+mj-lt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4400" b="1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赋能软件适配测试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86960" y="4032885"/>
            <a:ext cx="2701290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英麒智能测试小组</a:t>
            </a: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曹咏诗</a:t>
            </a:r>
          </a:p>
          <a:p>
            <a:pPr algn="ctr">
              <a:lnSpc>
                <a:spcPct val="150000"/>
              </a:lnSpc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2025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年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月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14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日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77545" y="497840"/>
            <a:ext cx="3724275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/>
              <a:t>为什么要使用</a:t>
            </a:r>
            <a:r>
              <a:rPr lang="en-US" altLang="zh-CN" sz="2800"/>
              <a:t> RuyiSDK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02762" y="2071713"/>
            <a:ext cx="565848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没板子但是也想学习</a:t>
            </a:r>
          </a:p>
          <a:p>
            <a:endParaRPr lang="zh-CN" altLang="en-US" dirty="0"/>
          </a:p>
          <a:p>
            <a:r>
              <a:rPr lang="zh-CN" altLang="en-US" dirty="0">
                <a:sym typeface="+mn-ea"/>
              </a:rPr>
              <a:t>买的板子不会玩，资料太零碎，找起来费事</a:t>
            </a: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工具链版本不匹配，安装卸载太麻烦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ym typeface="+mn-ea"/>
              </a:rPr>
              <a:t>板子编译太慢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48994" y="4716586"/>
            <a:ext cx="5017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RuyiSDK</a:t>
            </a:r>
            <a:r>
              <a:rPr lang="en-US" altLang="zh-CN" sz="24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为解决</a:t>
            </a:r>
            <a:r>
              <a:rPr lang="zh-CN" altLang="en-US" sz="24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这些痛点而生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FD7839-379B-DA49-00BA-F9329E8632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451" y="1795102"/>
            <a:ext cx="2960781" cy="394770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4BA9D1C-AAF8-C57B-0E6B-149F355468A3}"/>
              </a:ext>
            </a:extLst>
          </p:cNvPr>
          <p:cNvSpPr txBox="1"/>
          <p:nvPr/>
        </p:nvSpPr>
        <p:spPr>
          <a:xfrm>
            <a:off x="7492345" y="1115190"/>
            <a:ext cx="2393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</a:rPr>
              <a:t>买来不会用怎么办？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16F76E-F3FD-344E-C4ED-CCB23E967DDD}"/>
              </a:ext>
            </a:extLst>
          </p:cNvPr>
          <p:cNvSpPr txBox="1"/>
          <p:nvPr/>
        </p:nvSpPr>
        <p:spPr>
          <a:xfrm>
            <a:off x="418403" y="1394992"/>
            <a:ext cx="6095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j-ea"/>
                <a:ea typeface="+mj-ea"/>
              </a:rPr>
              <a:t>新手入门痛点：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77545" y="520065"/>
            <a:ext cx="3724275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/>
              <a:t>RuyiSDK </a:t>
            </a:r>
            <a:r>
              <a:rPr lang="zh-CN" altLang="en-US" sz="2800"/>
              <a:t>主要功能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12165" y="1554480"/>
            <a:ext cx="88106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Ruyi </a:t>
            </a:r>
            <a:r>
              <a:rPr lang="zh-CN" altLang="en-US" dirty="0"/>
              <a:t>包管理器：像应用商店一样简单，一键安装工具链、模拟器、系统镜像</a:t>
            </a:r>
          </a:p>
          <a:p>
            <a:endParaRPr lang="zh-CN" altLang="en-US" dirty="0"/>
          </a:p>
          <a:p>
            <a:pPr indent="457200"/>
            <a:r>
              <a:rPr lang="en-US" altLang="zh-CN" dirty="0">
                <a:sym typeface="+mn-ea"/>
              </a:rPr>
              <a:t>Ruyi </a:t>
            </a:r>
            <a:r>
              <a:rPr lang="zh-CN" altLang="en-US" dirty="0">
                <a:sym typeface="+mn-ea"/>
              </a:rPr>
              <a:t>虚拟环境集成</a:t>
            </a:r>
          </a:p>
          <a:p>
            <a:pPr indent="457200"/>
            <a:endParaRPr lang="zh-CN" altLang="en-US" dirty="0">
              <a:sym typeface="+mn-ea"/>
            </a:endParaRPr>
          </a:p>
          <a:p>
            <a:pPr indent="457200"/>
            <a:r>
              <a:rPr lang="en-US" altLang="zh-CN" dirty="0">
                <a:sym typeface="+mn-ea"/>
              </a:rPr>
              <a:t>Ruyi </a:t>
            </a:r>
            <a:r>
              <a:rPr lang="zh-CN" altLang="en-US" dirty="0">
                <a:sym typeface="+mn-ea"/>
              </a:rPr>
              <a:t>镜像集成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Ruyi VSCode 插件：提供可视化操作界面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3. Ruyi IDE:   </a:t>
            </a:r>
            <a:r>
              <a:rPr lang="zh-CN" altLang="en-US" dirty="0">
                <a:sym typeface="+mn-ea"/>
              </a:rPr>
              <a:t>支持远程开发板调试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812165" y="3606800"/>
            <a:ext cx="4545965" cy="412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7545" y="459740"/>
            <a:ext cx="3724275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/>
              <a:t>RuyiSDK </a:t>
            </a:r>
            <a:r>
              <a:rPr lang="zh-CN" altLang="en-US" sz="2800"/>
              <a:t>包管理器使用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88670" y="2133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二、日常开发流程：</a:t>
            </a:r>
            <a:r>
              <a:rPr lang="en-US" altLang="zh-CN"/>
              <a:t>    </a:t>
            </a:r>
            <a:r>
              <a:rPr lang="en-US" altLang="zh-CN">
                <a:hlinkClick r:id="rId2" action="ppaction://hlinkfile"/>
              </a:rPr>
              <a:t>[</a:t>
            </a:r>
            <a:r>
              <a:rPr lang="zh-CN" altLang="en-US">
                <a:hlinkClick r:id="rId2" action="ppaction://hlinkfile"/>
              </a:rPr>
              <a:t>文档</a:t>
            </a:r>
            <a:r>
              <a:rPr lang="en-US" altLang="zh-CN">
                <a:hlinkClick r:id="rId2" action="ppaction://hlinkfile"/>
              </a:rPr>
              <a:t>]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88670" y="13735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一、下载安装：</a:t>
            </a:r>
            <a:r>
              <a:rPr lang="en-US" altLang="zh-CN"/>
              <a:t>	</a:t>
            </a:r>
            <a:r>
              <a:rPr lang="en-US" altLang="zh-CN">
                <a:hlinkClick r:id="rId3" action="ppaction://hlinkfile"/>
              </a:rPr>
              <a:t>[</a:t>
            </a:r>
            <a:r>
              <a:rPr lang="zh-CN" altLang="en-US">
                <a:hlinkClick r:id="rId3" action="ppaction://hlinkfile"/>
              </a:rPr>
              <a:t>文档</a:t>
            </a:r>
            <a:r>
              <a:rPr lang="en-US" altLang="zh-CN">
                <a:hlinkClick r:id="rId3" action="ppaction://hlinkfile"/>
              </a:rPr>
              <a:t>]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47725" y="2723515"/>
            <a:ext cx="854773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en-US" altLang="zh-CN" dirty="0" err="1"/>
              <a:t>ruyi</a:t>
            </a:r>
            <a:r>
              <a:rPr lang="en-US" altLang="zh-CN" dirty="0"/>
              <a:t> update </a:t>
            </a:r>
            <a:r>
              <a:rPr lang="zh-CN" altLang="en-US" dirty="0"/>
              <a:t>（建议每次使用前更新）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根据包名查找存储库</a:t>
            </a:r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ruyi</a:t>
            </a:r>
            <a:r>
              <a:rPr lang="en-US" altLang="zh-CN" dirty="0">
                <a:sym typeface="+mn-ea"/>
              </a:rPr>
              <a:t> list --name-contains &lt;package name&gt;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安装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卸载开发工具（工具链、模拟器）</a:t>
            </a:r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ruyi</a:t>
            </a:r>
            <a:r>
              <a:rPr lang="en-US" altLang="zh-CN" dirty="0">
                <a:sym typeface="+mn-ea"/>
              </a:rPr>
              <a:t> install/uninstall &lt;package&gt;</a:t>
            </a: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4. (</a:t>
            </a:r>
            <a:r>
              <a:rPr lang="zh-CN" altLang="en-US" dirty="0">
                <a:sym typeface="+mn-ea"/>
              </a:rPr>
              <a:t>可选</a:t>
            </a:r>
            <a:r>
              <a:rPr lang="en-US" altLang="zh-CN" dirty="0">
                <a:sym typeface="+mn-ea"/>
              </a:rPr>
              <a:t>|</a:t>
            </a:r>
            <a:r>
              <a:rPr lang="zh-CN" altLang="en-US" dirty="0">
                <a:sym typeface="+mn-ea"/>
              </a:rPr>
              <a:t>推荐</a:t>
            </a:r>
            <a:r>
              <a:rPr lang="en-US" altLang="zh-CN" dirty="0">
                <a:sym typeface="+mn-ea"/>
              </a:rPr>
              <a:t>) </a:t>
            </a:r>
            <a:r>
              <a:rPr lang="en-US" altLang="zh-CN" dirty="0" err="1">
                <a:sym typeface="+mn-ea"/>
              </a:rPr>
              <a:t>ruyi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venv</a:t>
            </a:r>
            <a:r>
              <a:rPr lang="en-US" altLang="zh-CN" dirty="0">
                <a:sym typeface="+mn-ea"/>
              </a:rPr>
              <a:t>    </a:t>
            </a:r>
            <a:r>
              <a:rPr lang="zh-CN" altLang="en-US" dirty="0">
                <a:sym typeface="+mn-ea"/>
              </a:rPr>
              <a:t>创建虚拟环境</a:t>
            </a:r>
            <a:endParaRPr lang="zh-CN" altLang="en-US" dirty="0"/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编译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>
                <a:sym typeface="+mn-ea"/>
              </a:rPr>
              <a:t>6. </a:t>
            </a:r>
            <a:r>
              <a:rPr lang="zh-CN" altLang="en-US" dirty="0">
                <a:sym typeface="+mn-ea"/>
              </a:rPr>
              <a:t>（可选）模拟运行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7545" y="520065"/>
            <a:ext cx="3724275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/>
              <a:t>RuyiSDK </a:t>
            </a:r>
            <a:r>
              <a:rPr lang="zh-CN" altLang="en-US" sz="2800"/>
              <a:t>包管理器使用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89305" y="1490345"/>
            <a:ext cx="4766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三、交叉编译环境集成：</a:t>
            </a:r>
            <a:r>
              <a:rPr lang="en-US" altLang="zh-CN" dirty="0"/>
              <a:t>	</a:t>
            </a:r>
            <a:r>
              <a:rPr lang="en-US" altLang="zh-CN" dirty="0">
                <a:hlinkClick r:id="rId2" action="ppaction://hlinkfile"/>
              </a:rPr>
              <a:t>[</a:t>
            </a:r>
            <a:r>
              <a:rPr lang="zh-CN" altLang="en-US" dirty="0">
                <a:hlinkClick r:id="rId2" action="ppaction://hlinkfile"/>
              </a:rPr>
              <a:t>文档</a:t>
            </a:r>
            <a:r>
              <a:rPr lang="en-US" altLang="zh-CN" dirty="0">
                <a:hlinkClick r:id="rId2" action="ppaction://hlinkfile"/>
              </a:rPr>
              <a:t>]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789305" y="43580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四、</a:t>
            </a:r>
            <a:r>
              <a:rPr lang="en-US" altLang="zh-CN"/>
              <a:t>RISC-V</a:t>
            </a:r>
            <a:r>
              <a:rPr lang="zh-CN" altLang="en-US"/>
              <a:t>板子系统安装：</a:t>
            </a:r>
            <a:r>
              <a:rPr lang="en-US" altLang="zh-CN"/>
              <a:t>	</a:t>
            </a:r>
            <a:r>
              <a:rPr lang="en-US" altLang="zh-CN">
                <a:hlinkClick r:id="rId3" action="ppaction://hlinkfile"/>
              </a:rPr>
              <a:t>[</a:t>
            </a:r>
            <a:r>
              <a:rPr lang="zh-CN" altLang="en-US">
                <a:hlinkClick r:id="rId3" action="ppaction://hlinkfile"/>
              </a:rPr>
              <a:t>文档</a:t>
            </a:r>
            <a:r>
              <a:rPr lang="en-US" altLang="zh-CN">
                <a:hlinkClick r:id="rId3" action="ppaction://hlinkfile"/>
              </a:rPr>
              <a:t>]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62330" y="4962525"/>
            <a:ext cx="50806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板子系统安装引导</a:t>
            </a:r>
            <a:r>
              <a:rPr lang="en-US" altLang="zh-CN" dirty="0"/>
              <a:t>    </a:t>
            </a:r>
            <a:r>
              <a:rPr lang="en-US" altLang="zh-CN" dirty="0" err="1"/>
              <a:t>ruyi</a:t>
            </a:r>
            <a:r>
              <a:rPr lang="en-US" altLang="zh-CN" dirty="0"/>
              <a:t> device provision</a:t>
            </a:r>
          </a:p>
          <a:p>
            <a:endParaRPr lang="en-US" altLang="zh-CN" dirty="0"/>
          </a:p>
          <a:p>
            <a:r>
              <a:rPr lang="zh-CN" altLang="en-US" dirty="0"/>
              <a:t>提供可靠镜像</a:t>
            </a:r>
            <a:r>
              <a:rPr lang="en-US" altLang="zh-CN" dirty="0"/>
              <a:t>	</a:t>
            </a:r>
            <a:r>
              <a:rPr lang="en-US" altLang="zh-CN" dirty="0">
                <a:hlinkClick r:id="rId4" action="ppaction://hlinkfile"/>
              </a:rPr>
              <a:t>https://matrix.ruyisdk.org/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789305" y="1987550"/>
            <a:ext cx="673989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解决的问题：</a:t>
            </a:r>
          </a:p>
          <a:p>
            <a:pPr indent="457200">
              <a:lnSpc>
                <a:spcPct val="150000"/>
              </a:lnSpc>
            </a:pPr>
            <a:r>
              <a:rPr lang="en-US" altLang="zh-CN"/>
              <a:t>1. </a:t>
            </a:r>
            <a:r>
              <a:rPr lang="zh-CN" altLang="en-US"/>
              <a:t>编译速度（板子</a:t>
            </a:r>
            <a:r>
              <a:rPr lang="en-US" altLang="zh-CN"/>
              <a:t>1</a:t>
            </a:r>
            <a:r>
              <a:rPr lang="zh-CN" altLang="en-US"/>
              <a:t>小时</a:t>
            </a:r>
            <a:r>
              <a:rPr lang="en-US" altLang="zh-CN"/>
              <a:t> -&gt; PC</a:t>
            </a:r>
            <a:r>
              <a:rPr lang="zh-CN" altLang="en-US"/>
              <a:t>几分钟）</a:t>
            </a:r>
          </a:p>
          <a:p>
            <a:pPr indent="457200">
              <a:lnSpc>
                <a:spcPct val="150000"/>
              </a:lnSpc>
            </a:pPr>
            <a:r>
              <a:rPr lang="en-US" altLang="zh-CN"/>
              <a:t>2. </a:t>
            </a:r>
            <a:r>
              <a:rPr lang="zh-CN" altLang="en-US"/>
              <a:t>存储限制（编译过程需要大量内存和临时文件）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62330" y="3542030"/>
            <a:ext cx="7522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创建虚拟环境</a:t>
            </a:r>
            <a:r>
              <a:rPr lang="en-US" altLang="zh-CN"/>
              <a:t>	ruyi venv -t &lt;toolchain&gt; profile -e &lt;emulator&gt; venv-name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7545" y="504825"/>
            <a:ext cx="4579620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/>
              <a:t>RuyiSDK VSCode </a:t>
            </a:r>
            <a:r>
              <a:rPr lang="zh-CN" altLang="en-US" sz="2800"/>
              <a:t>插件使用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88670" y="13735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一、下载安装：</a:t>
            </a:r>
            <a:r>
              <a:rPr lang="en-US" altLang="zh-CN"/>
              <a:t>	</a:t>
            </a:r>
            <a:r>
              <a:rPr lang="en-US" altLang="zh-CN">
                <a:hlinkClick r:id="rId2" action="ppaction://hlinkfile"/>
              </a:rPr>
              <a:t>[</a:t>
            </a:r>
            <a:r>
              <a:rPr lang="zh-CN" altLang="en-US">
                <a:hlinkClick r:id="rId2" action="ppaction://hlinkfile"/>
              </a:rPr>
              <a:t>文档</a:t>
            </a:r>
            <a:r>
              <a:rPr lang="en-US" altLang="zh-CN">
                <a:hlinkClick r:id="rId2" action="ppaction://hlinkfile"/>
              </a:rPr>
              <a:t>]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88670" y="3467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二、功能展示：</a:t>
            </a:r>
            <a:r>
              <a:rPr lang="en-US" altLang="zh-CN"/>
              <a:t>	</a:t>
            </a:r>
            <a:r>
              <a:rPr lang="en-US" altLang="zh-CN">
                <a:hlinkClick r:id="rId3" action="ppaction://hlinkfile"/>
              </a:rPr>
              <a:t>[</a:t>
            </a:r>
            <a:r>
              <a:rPr lang="zh-CN" altLang="en-US">
                <a:hlinkClick r:id="rId3" action="ppaction://hlinkfile"/>
              </a:rPr>
              <a:t>文档</a:t>
            </a:r>
            <a:r>
              <a:rPr lang="en-US" altLang="zh-CN">
                <a:hlinkClick r:id="rId3" action="ppaction://hlinkfile"/>
              </a:rPr>
              <a:t>]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54710" y="4077970"/>
            <a:ext cx="84797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 </a:t>
            </a:r>
            <a:r>
              <a:rPr lang="zh-CN" altLang="en-US"/>
              <a:t>软件包管理：侧边栏浏览</a:t>
            </a:r>
            <a:r>
              <a:rPr lang="en-US" altLang="zh-CN"/>
              <a:t>/</a:t>
            </a:r>
            <a:r>
              <a:rPr lang="zh-CN" altLang="en-US"/>
              <a:t>搜索</a:t>
            </a:r>
            <a:r>
              <a:rPr lang="en-US" altLang="zh-CN"/>
              <a:t>/</a:t>
            </a:r>
            <a:r>
              <a:rPr lang="zh-CN" altLang="en-US"/>
              <a:t>安装</a:t>
            </a:r>
            <a:r>
              <a:rPr lang="en-US" altLang="zh-CN"/>
              <a:t>/</a:t>
            </a:r>
            <a:r>
              <a:rPr lang="zh-CN" altLang="en-US"/>
              <a:t>卸载</a:t>
            </a:r>
            <a:r>
              <a:rPr lang="en-US" altLang="zh-CN"/>
              <a:t> Ruyi </a:t>
            </a:r>
            <a:r>
              <a:rPr lang="zh-CN" altLang="en-US"/>
              <a:t>软件包</a:t>
            </a:r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虚拟环境：向导创建和切换</a:t>
            </a:r>
            <a:r>
              <a:rPr lang="en-US" altLang="zh-CN"/>
              <a:t> Ruyi venv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35355" y="181292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1. VSCode </a:t>
            </a:r>
            <a:r>
              <a:rPr lang="zh-CN" altLang="en-US"/>
              <a:t>拓展市场</a:t>
            </a:r>
          </a:p>
          <a:p>
            <a:pPr>
              <a:lnSpc>
                <a:spcPct val="150000"/>
              </a:lnSpc>
            </a:pPr>
            <a:r>
              <a:rPr lang="en-US" altLang="zh-CN"/>
              <a:t>2. </a:t>
            </a:r>
            <a:r>
              <a:rPr lang="zh-CN" altLang="en-US">
                <a:hlinkClick r:id="rId4" action="ppaction://hlinkfile"/>
              </a:rPr>
              <a:t>官网</a:t>
            </a:r>
            <a:r>
              <a:rPr lang="zh-CN" altLang="en-US"/>
              <a:t>下载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52475" y="497840"/>
            <a:ext cx="9442450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/>
              <a:t>RuyiSDK </a:t>
            </a:r>
            <a:r>
              <a:rPr lang="zh-CN" altLang="en-US" sz="2800"/>
              <a:t>使用案例演示</a:t>
            </a:r>
            <a:r>
              <a:rPr lang="en-US" altLang="zh-CN" sz="2800"/>
              <a:t>	</a:t>
            </a:r>
            <a:r>
              <a:rPr lang="zh-CN" altLang="en-US" sz="2800"/>
              <a:t>（</a:t>
            </a:r>
            <a:r>
              <a:rPr lang="en-US" altLang="zh-CN" sz="2800"/>
              <a:t>Milk-V Duo S </a:t>
            </a:r>
            <a:r>
              <a:rPr lang="zh-CN" altLang="en-US" sz="2800"/>
              <a:t>快速适配</a:t>
            </a:r>
            <a:r>
              <a:rPr lang="en-US" altLang="zh-CN" sz="2800"/>
              <a:t> Cuberite</a:t>
            </a:r>
            <a:r>
              <a:rPr lang="zh-CN" altLang="en-US" sz="2800"/>
              <a:t>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7715" y="13881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一、</a:t>
            </a:r>
            <a:r>
              <a:rPr lang="en-US" altLang="zh-CN"/>
              <a:t>Cuberite </a:t>
            </a:r>
            <a:r>
              <a:rPr lang="zh-CN" altLang="en-US"/>
              <a:t>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52475" y="1976755"/>
            <a:ext cx="51028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开源</a:t>
            </a:r>
            <a:r>
              <a:rPr lang="en-US" altLang="zh-CN"/>
              <a:t> MineCraft Java </a:t>
            </a:r>
            <a:r>
              <a:rPr lang="zh-CN" altLang="en-US"/>
              <a:t>版服务器</a:t>
            </a:r>
            <a:r>
              <a:rPr lang="en-US" altLang="zh-CN"/>
              <a:t>	</a:t>
            </a:r>
            <a:r>
              <a:rPr lang="en-US" altLang="zh-CN">
                <a:hlinkClick r:id="rId2" action="ppaction://hlinkfile"/>
              </a:rPr>
              <a:t>[</a:t>
            </a:r>
            <a:r>
              <a:rPr lang="zh-CN" altLang="en-US">
                <a:hlinkClick r:id="rId2" action="ppaction://hlinkfile"/>
              </a:rPr>
              <a:t>链接</a:t>
            </a:r>
            <a:r>
              <a:rPr lang="en-US" altLang="zh-CN">
                <a:hlinkClick r:id="rId2" action="ppaction://hlinkfile"/>
              </a:rPr>
              <a:t>]</a:t>
            </a:r>
          </a:p>
          <a:p>
            <a:endParaRPr lang="zh-CN" altLang="en-US"/>
          </a:p>
          <a:p>
            <a:r>
              <a:rPr lang="zh-CN" altLang="en-US"/>
              <a:t>尝试使用</a:t>
            </a:r>
            <a:r>
              <a:rPr lang="en-US" altLang="zh-CN"/>
              <a:t> Milk-V Duo S </a:t>
            </a:r>
            <a:r>
              <a:rPr lang="zh-CN" altLang="en-US"/>
              <a:t>搭建局域网游戏服务器</a:t>
            </a:r>
          </a:p>
        </p:txBody>
      </p:sp>
      <p:pic>
        <p:nvPicPr>
          <p:cNvPr id="9" name="图片 8" descr="maxresdefau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97940"/>
            <a:ext cx="5641975" cy="31743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67715" y="33451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二、开发板介绍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50240" y="3670300"/>
            <a:ext cx="4700905" cy="2265045"/>
            <a:chOff x="1140" y="6411"/>
            <a:chExt cx="7403" cy="3567"/>
          </a:xfrm>
        </p:grpSpPr>
        <p:sp>
          <p:nvSpPr>
            <p:cNvPr id="13" name="文本框 12"/>
            <p:cNvSpPr txBox="1"/>
            <p:nvPr/>
          </p:nvSpPr>
          <p:spPr>
            <a:xfrm>
              <a:off x="1140" y="7183"/>
              <a:ext cx="2947" cy="216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Milk-V</a:t>
              </a:r>
              <a:endParaRPr lang="en-US" altLang="zh-CN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>
                  <a:latin typeface="Arial" panose="020B0604020202020204" pitchFamily="34" charset="0"/>
                  <a:cs typeface="Arial" panose="020B0604020202020204" pitchFamily="34" charset="0"/>
                </a:rPr>
                <a:t>Duo S (512M)</a:t>
              </a:r>
            </a:p>
            <a:p>
              <a:r>
                <a:rPr lang="en-US" altLang="zh-CN">
                  <a:latin typeface="Arial" panose="020B0604020202020204" pitchFamily="34" charset="0"/>
                  <a:cs typeface="Arial" panose="020B0604020202020204" pitchFamily="34" charset="0"/>
                </a:rPr>
                <a:t>C906@1Ghz + </a:t>
              </a:r>
            </a:p>
            <a:p>
              <a:r>
                <a:rPr lang="en-US" altLang="zh-CN">
                  <a:latin typeface="Arial" panose="020B0604020202020204" pitchFamily="34" charset="0"/>
                  <a:cs typeface="Arial" panose="020B0604020202020204" pitchFamily="34" charset="0"/>
                </a:rPr>
                <a:t>C906@700MHz</a:t>
              </a:r>
              <a:r>
                <a:rPr lang="en-US" altLang="zh-CN"/>
                <a:t> </a:t>
              </a:r>
            </a:p>
          </p:txBody>
        </p:sp>
        <p:pic>
          <p:nvPicPr>
            <p:cNvPr id="14" name="图片 13" descr="下载 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19" y="6411"/>
              <a:ext cx="4024" cy="35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7715" y="13881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三、</a:t>
            </a:r>
            <a:r>
              <a:rPr lang="en-US" altLang="zh-CN"/>
              <a:t>Ruyi </a:t>
            </a:r>
            <a:r>
              <a:rPr lang="zh-CN" altLang="en-US"/>
              <a:t>安装软件包工具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42010" y="1756410"/>
            <a:ext cx="8346440" cy="10648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ruyi  update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ruyi  install  gnu-milkv-milkv-duo-bin  qemu-user-riscv-upstream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52475" y="497840"/>
            <a:ext cx="9442450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/>
              <a:t>PC </a:t>
            </a:r>
            <a:r>
              <a:rPr lang="zh-CN" altLang="en-US" sz="2800"/>
              <a:t>端</a:t>
            </a:r>
            <a:r>
              <a:rPr lang="en-US" altLang="zh-CN" sz="2800"/>
              <a:t> Ruyi </a:t>
            </a:r>
            <a:r>
              <a:rPr lang="zh-CN" altLang="en-US" sz="2800"/>
              <a:t>环境部署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67715" y="32372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四、创建虚拟环境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67715" y="3656965"/>
            <a:ext cx="1091819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ruyi  venv  -t  gnu-milkv-milkv-duo-bin  generic  milkv-glibc-venv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ruyi  venv  -t  gnu-milkv-milkv-duo-bin  -e  qemu-user-riscv-upstream  generic  milkv-duo-qemu</a:t>
            </a: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10" y="4982845"/>
            <a:ext cx="9786620" cy="13284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52475" y="497840"/>
            <a:ext cx="9442450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/>
              <a:t>编译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7715" y="13881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五、交叉编译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3755" y="1883410"/>
            <a:ext cx="1040828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cmake  ..  -DCMAKE_TOOLCHAIN_FILE=../../toolchain.cmake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make  -j$(nproc)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67715" y="4045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六、（可选）</a:t>
            </a:r>
            <a:r>
              <a:rPr lang="en-US" altLang="zh-CN"/>
              <a:t>QEMU </a:t>
            </a:r>
            <a:r>
              <a:rPr lang="zh-CN" altLang="en-US"/>
              <a:t>模拟运行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3755" y="4413885"/>
            <a:ext cx="4050665" cy="115697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cd cuberite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ruyi-qemu  ./build/Server/Cuberite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t="20467"/>
          <a:stretch>
            <a:fillRect/>
          </a:stretch>
        </p:blipFill>
        <p:spPr>
          <a:xfrm>
            <a:off x="897890" y="3025140"/>
            <a:ext cx="6934835" cy="5403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0" y="5570855"/>
            <a:ext cx="6357620" cy="7683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725" y="4145915"/>
            <a:ext cx="3817620" cy="1692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52475" y="497840"/>
            <a:ext cx="9442450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/>
              <a:t>开发板部署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7715" y="13881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七、系统安装：</a:t>
            </a:r>
            <a:r>
              <a:rPr lang="en-US" altLang="zh-CN"/>
              <a:t>	</a:t>
            </a:r>
            <a:r>
              <a:rPr lang="en-US" altLang="zh-CN">
                <a:hlinkClick r:id="rId2" action="ppaction://hlinkfile"/>
              </a:rPr>
              <a:t>[</a:t>
            </a:r>
            <a:r>
              <a:rPr lang="zh-CN" altLang="en-US">
                <a:hlinkClick r:id="rId2" action="ppaction://hlinkfile"/>
              </a:rPr>
              <a:t>链接</a:t>
            </a:r>
            <a:r>
              <a:rPr lang="en-US" altLang="zh-CN">
                <a:hlinkClick r:id="rId2" action="ppaction://hlinkfile"/>
              </a:rPr>
              <a:t>]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55040" y="19265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刷写镜像到</a:t>
            </a:r>
            <a:r>
              <a:rPr lang="en-US" altLang="zh-CN"/>
              <a:t> microSD </a:t>
            </a:r>
            <a:r>
              <a:rPr lang="zh-CN" altLang="en-US"/>
              <a:t>卡，串口登录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2465070"/>
            <a:ext cx="10674350" cy="4762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52475" y="3305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八、上传板子运行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7FE902-A0E7-B525-D6D9-D41270EDD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3916681"/>
            <a:ext cx="10975200" cy="12898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52475" y="497840"/>
            <a:ext cx="9442450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/>
              <a:t>运行效果展示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3755" y="1334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板子运行日志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52475" y="4152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客户端连接游戏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23563"/>
          <a:stretch>
            <a:fillRect/>
          </a:stretch>
        </p:blipFill>
        <p:spPr>
          <a:xfrm>
            <a:off x="833755" y="1898015"/>
            <a:ext cx="3800475" cy="5060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686" y="733325"/>
            <a:ext cx="5948920" cy="33415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1519A6E-AF9F-45E5-A1D1-311B7CD5E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55" y="4836005"/>
            <a:ext cx="6640694" cy="11936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77545" y="497840"/>
            <a:ext cx="4848860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/>
              <a:t>RuyiSDK </a:t>
            </a:r>
            <a:r>
              <a:rPr lang="zh-CN" altLang="en-US" sz="2800"/>
              <a:t>赋能软件适配成果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87378E-676D-0BFA-95A2-05083FFBD459}"/>
              </a:ext>
            </a:extLst>
          </p:cNvPr>
          <p:cNvSpPr txBox="1"/>
          <p:nvPr/>
        </p:nvSpPr>
        <p:spPr>
          <a:xfrm>
            <a:off x="719190" y="1116451"/>
            <a:ext cx="5054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+mn-ea"/>
              </a:rPr>
              <a:t>LicheePi</a:t>
            </a:r>
            <a:r>
              <a:rPr lang="en-US" altLang="zh-CN" dirty="0">
                <a:latin typeface="+mn-ea"/>
              </a:rPr>
              <a:t> 4A </a:t>
            </a:r>
            <a:r>
              <a:rPr lang="zh-CN" altLang="en-US" dirty="0">
                <a:latin typeface="+mn-ea"/>
              </a:rPr>
              <a:t>平台适配 </a:t>
            </a:r>
            <a:r>
              <a:rPr lang="en-US" altLang="zh-CN" dirty="0" err="1">
                <a:latin typeface="+mn-ea"/>
              </a:rPr>
              <a:t>Luanti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	</a:t>
            </a:r>
            <a:r>
              <a:rPr lang="en-US" altLang="zh-CN" dirty="0">
                <a:latin typeface="+mn-ea"/>
                <a:hlinkClick r:id="rId2"/>
              </a:rPr>
              <a:t>[</a:t>
            </a:r>
            <a:r>
              <a:rPr lang="zh-CN" altLang="en-US" dirty="0">
                <a:latin typeface="+mn-ea"/>
                <a:hlinkClick r:id="rId2"/>
              </a:rPr>
              <a:t>代码仓库</a:t>
            </a:r>
            <a:r>
              <a:rPr lang="en-US" altLang="zh-CN" dirty="0">
                <a:latin typeface="+mn-ea"/>
                <a:hlinkClick r:id="rId2"/>
              </a:rPr>
              <a:t>]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开源版</a:t>
            </a:r>
            <a:r>
              <a:rPr lang="en-US" altLang="zh-CN" dirty="0" err="1">
                <a:latin typeface="+mn-ea"/>
              </a:rPr>
              <a:t>MineCraft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流畅运行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61C2D9-293F-C3E3-D1AF-6209515F6441}"/>
              </a:ext>
            </a:extLst>
          </p:cNvPr>
          <p:cNvSpPr txBox="1"/>
          <p:nvPr/>
        </p:nvSpPr>
        <p:spPr>
          <a:xfrm>
            <a:off x="719190" y="3904012"/>
            <a:ext cx="5054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+mn-ea"/>
              </a:rPr>
              <a:t>LicheePi</a:t>
            </a:r>
            <a:r>
              <a:rPr lang="en-US" altLang="zh-CN" dirty="0">
                <a:latin typeface="+mn-ea"/>
              </a:rPr>
              <a:t> 4A </a:t>
            </a:r>
            <a:r>
              <a:rPr lang="zh-CN" altLang="en-US" dirty="0">
                <a:latin typeface="+mn-ea"/>
              </a:rPr>
              <a:t>平台适配 </a:t>
            </a:r>
            <a:r>
              <a:rPr lang="en-US" altLang="zh-CN" dirty="0" err="1">
                <a:latin typeface="+mn-ea"/>
              </a:rPr>
              <a:t>vkQuake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	</a:t>
            </a:r>
            <a:r>
              <a:rPr lang="en-US" altLang="zh-CN" dirty="0">
                <a:latin typeface="+mn-ea"/>
                <a:hlinkClick r:id="rId3"/>
              </a:rPr>
              <a:t>[</a:t>
            </a:r>
            <a:r>
              <a:rPr lang="zh-CN" altLang="en-US" dirty="0">
                <a:latin typeface="+mn-ea"/>
                <a:hlinkClick r:id="rId3"/>
              </a:rPr>
              <a:t>代码仓库</a:t>
            </a:r>
            <a:r>
              <a:rPr lang="en-US" altLang="zh-CN" dirty="0">
                <a:latin typeface="+mn-ea"/>
                <a:hlinkClick r:id="rId3"/>
              </a:rPr>
              <a:t>]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开源</a:t>
            </a:r>
            <a:r>
              <a:rPr lang="en-US" altLang="zh-CN" dirty="0">
                <a:latin typeface="+mn-ea"/>
              </a:rPr>
              <a:t>Quake</a:t>
            </a:r>
            <a:r>
              <a:rPr lang="zh-CN" altLang="en-US" dirty="0">
                <a:latin typeface="+mn-ea"/>
              </a:rPr>
              <a:t>雷神之锤游戏引擎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C815EE2-E4BE-39DC-9630-24115E0C5A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98" y="1818466"/>
            <a:ext cx="3400747" cy="18651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B93A99B-FCDD-9A31-24D6-3CADBE4B39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80" y="1803400"/>
            <a:ext cx="3478027" cy="19075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1E958BF-01CD-8B10-E19A-02CF8ED5F41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98" y="4590961"/>
            <a:ext cx="3129647" cy="182380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B010FB1-5A1D-801B-F9E2-A1DE35D7F5F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298" y="4590961"/>
            <a:ext cx="3123749" cy="18238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8A02E7A-A26D-FB7B-C30B-0D7F23481F26}"/>
              </a:ext>
            </a:extLst>
          </p:cNvPr>
          <p:cNvSpPr txBox="1"/>
          <p:nvPr/>
        </p:nvSpPr>
        <p:spPr>
          <a:xfrm>
            <a:off x="618243" y="760689"/>
            <a:ext cx="5054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+mn-ea"/>
              </a:rPr>
              <a:t>LicheePi</a:t>
            </a:r>
            <a:r>
              <a:rPr lang="en-US" altLang="zh-CN" dirty="0">
                <a:latin typeface="+mn-ea"/>
              </a:rPr>
              <a:t> 4A </a:t>
            </a:r>
            <a:r>
              <a:rPr lang="zh-CN" altLang="en-US" dirty="0">
                <a:latin typeface="+mn-ea"/>
              </a:rPr>
              <a:t>平台适配 </a:t>
            </a:r>
            <a:r>
              <a:rPr lang="en-US" altLang="zh-CN" dirty="0">
                <a:latin typeface="+mn-ea"/>
              </a:rPr>
              <a:t>LaiNES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	</a:t>
            </a:r>
            <a:r>
              <a:rPr lang="en-US" altLang="zh-CN" dirty="0">
                <a:latin typeface="+mn-ea"/>
                <a:hlinkClick r:id="rId2"/>
              </a:rPr>
              <a:t>[</a:t>
            </a:r>
            <a:r>
              <a:rPr lang="zh-CN" altLang="en-US" dirty="0">
                <a:latin typeface="+mn-ea"/>
                <a:hlinkClick r:id="rId2"/>
              </a:rPr>
              <a:t>运行文档</a:t>
            </a:r>
            <a:r>
              <a:rPr lang="en-US" altLang="zh-CN" dirty="0">
                <a:latin typeface="+mn-ea"/>
                <a:hlinkClick r:id="rId2"/>
              </a:rPr>
              <a:t>]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开源</a:t>
            </a:r>
            <a:r>
              <a:rPr lang="en-US" altLang="zh-CN" dirty="0">
                <a:latin typeface="+mn-ea"/>
              </a:rPr>
              <a:t>NES</a:t>
            </a:r>
            <a:r>
              <a:rPr lang="zh-CN" altLang="en-US" dirty="0">
                <a:latin typeface="+mn-ea"/>
              </a:rPr>
              <a:t>红白机模拟器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32E8CC-8B1B-2EE6-45C9-8AA7D852F89B}"/>
              </a:ext>
            </a:extLst>
          </p:cNvPr>
          <p:cNvSpPr txBox="1"/>
          <p:nvPr/>
        </p:nvSpPr>
        <p:spPr>
          <a:xfrm>
            <a:off x="698072" y="3910289"/>
            <a:ext cx="5054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+mn-ea"/>
              </a:rPr>
              <a:t>LicheePi</a:t>
            </a:r>
            <a:r>
              <a:rPr lang="en-US" altLang="zh-CN" dirty="0">
                <a:latin typeface="+mn-ea"/>
              </a:rPr>
              <a:t> 4A </a:t>
            </a:r>
            <a:r>
              <a:rPr lang="zh-CN" altLang="en-US" dirty="0">
                <a:latin typeface="+mn-ea"/>
              </a:rPr>
              <a:t>平台适配 </a:t>
            </a:r>
            <a:r>
              <a:rPr lang="en-US" altLang="zh-CN" dirty="0" err="1">
                <a:latin typeface="+mn-ea"/>
              </a:rPr>
              <a:t>Picodrive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	</a:t>
            </a:r>
            <a:r>
              <a:rPr lang="en-US" altLang="zh-CN" dirty="0">
                <a:latin typeface="+mn-ea"/>
                <a:hlinkClick r:id="rId3"/>
              </a:rPr>
              <a:t>[</a:t>
            </a:r>
            <a:r>
              <a:rPr lang="zh-CN" altLang="en-US" dirty="0">
                <a:latin typeface="+mn-ea"/>
                <a:hlinkClick r:id="rId3"/>
              </a:rPr>
              <a:t>运行文档</a:t>
            </a:r>
            <a:r>
              <a:rPr lang="en-US" altLang="zh-CN" dirty="0">
                <a:latin typeface="+mn-ea"/>
                <a:hlinkClick r:id="rId3"/>
              </a:rPr>
              <a:t>]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开源世嘉模拟器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1502A04-F693-23B9-D51A-725DE4D43A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75" y="1506612"/>
            <a:ext cx="2134626" cy="204783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CDA3A89-D695-8D86-0E91-427B7844F3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515" y="1506609"/>
            <a:ext cx="2134626" cy="204585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743EC4C-95C9-40BA-1B24-E34BA4232CC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955" y="1506609"/>
            <a:ext cx="2117675" cy="204585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11942C0-9600-2D89-686F-56020644A37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658" y="4713389"/>
            <a:ext cx="2449723" cy="189803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F601935-E271-6E28-C8AA-04CC48A3ED4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30" y="4747249"/>
            <a:ext cx="2390785" cy="18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8311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616</Words>
  <Application>Microsoft Office PowerPoint</Application>
  <PresentationFormat>宽屏</PresentationFormat>
  <Paragraphs>99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华文楷体</vt:lpstr>
      <vt:lpstr>楷体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yongshi cao</dc:creator>
  <cp:lastModifiedBy>yongshi cao</cp:lastModifiedBy>
  <cp:revision>56</cp:revision>
  <dcterms:created xsi:type="dcterms:W3CDTF">2023-08-09T12:44:00Z</dcterms:created>
  <dcterms:modified xsi:type="dcterms:W3CDTF">2026-01-14T05:59:37Z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BCC6686EB49D417585A975770ACC8CC4_12</vt:lpwstr>
  </property>
</Properties>
</file>