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71" r:id="rId6"/>
    <p:sldId id="285" r:id="rId7"/>
    <p:sldId id="272" r:id="rId8"/>
    <p:sldId id="286" r:id="rId9"/>
    <p:sldId id="276" r:id="rId10"/>
    <p:sldId id="280" r:id="rId11"/>
    <p:sldId id="283" r:id="rId12"/>
    <p:sldId id="262" r:id="rId13"/>
    <p:sldId id="282" r:id="rId14"/>
    <p:sldId id="288" r:id="rId15"/>
    <p:sldId id="269" r:id="rId16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>
      <p:cViewPr>
        <p:scale>
          <a:sx n="60" d="100"/>
          <a:sy n="60" d="100"/>
        </p:scale>
        <p:origin x="1446" y="13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gs" Target="tags/tag2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matchingName="Title Slid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abc530c-d19d-430b-81a4-80c54fd5ba7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标题 4" descr="48784fa9-c2b2-431d-a12a-cc42239edab1"/>
          <p:cNvSpPr>
            <a:spLocks noGrp="1"/>
          </p:cNvSpPr>
          <p:nvPr>
            <p:ph type="ctrTitle" hasCustomPrompt="1"/>
          </p:nvPr>
        </p:nvSpPr>
        <p:spPr>
          <a:xfrm>
            <a:off x="660400" y="1104900"/>
            <a:ext cx="5969000" cy="257055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ln w="19050"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 descr="7652301d-df0c-4c93-8645-de45d446f71e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400" y="3792151"/>
            <a:ext cx="5969000" cy="60204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14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 descr="6b8beaea-3ec9-4feb-888a-1235ad13e5e4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1" y="5857101"/>
            <a:ext cx="284480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 descr="a228982b-6ffc-4137-91c9-40ff242734ae"/>
          <p:cNvSpPr>
            <a:spLocks noGrp="1"/>
          </p:cNvSpPr>
          <p:nvPr>
            <p:ph type="body" sz="quarter" idx="14" hasCustomPrompt="1"/>
          </p:nvPr>
        </p:nvSpPr>
        <p:spPr>
          <a:xfrm>
            <a:off x="3784600" y="5857101"/>
            <a:ext cx="284480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9b9074f9-43f6-4dbf-86e9-b01dba440e8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内容占位符 2" descr="a2ff495c-791b-416e-a65f-41489b81116a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 descr="83db8434-c1c7-4961-a5e3-38a036daa93c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8363e239-76b2-49ca-a23a-2a88382423c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 descr="6734d928-bdc6-4ab2-8af5-c67d0858c7c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 descr="8cb00ee5-22a6-4fc3-aeab-fe468d9ff533"/>
          <p:cNvSpPr/>
          <p:nvPr/>
        </p:nvSpPr>
        <p:spPr>
          <a:xfrm>
            <a:off x="1783445" y="1719944"/>
            <a:ext cx="9735455" cy="44141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 descr="6d59798f-c78d-42d8-bf47-6ead0c88f4f2"/>
          <p:cNvSpPr>
            <a:spLocks noGrp="1"/>
          </p:cNvSpPr>
          <p:nvPr>
            <p:ph type="title" hasCustomPrompt="1"/>
          </p:nvPr>
        </p:nvSpPr>
        <p:spPr>
          <a:xfrm>
            <a:off x="2970377" y="855429"/>
            <a:ext cx="1922161" cy="864515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l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 descr="fefa6af2-792f-4534-8c92-8ced183b6280"/>
          <p:cNvSpPr>
            <a:spLocks noGrp="1"/>
          </p:cNvSpPr>
          <p:nvPr>
            <p:ph sz="quarter" idx="1" hasCustomPrompt="1"/>
          </p:nvPr>
        </p:nvSpPr>
        <p:spPr>
          <a:xfrm>
            <a:off x="2970377" y="2002970"/>
            <a:ext cx="8231021" cy="3674251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 descr="c6fc205b-5dae-4785-a8c6-ec457484aef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页脚占位符 4" descr="32219d59-3b38-4de7-bd94-20292293199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 descr="7f820550-5eb8-4e7f-a67e-5109c1a9030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 dirty="0"/>
          </a:p>
        </p:txBody>
      </p:sp>
      <p:cxnSp>
        <p:nvCxnSpPr>
          <p:cNvPr id="10" name="直接连接符 9" descr="6ebc8a5e-86df-4910-86bb-4ff5d18eae98"/>
          <p:cNvCxnSpPr/>
          <p:nvPr/>
        </p:nvCxnSpPr>
        <p:spPr>
          <a:xfrm>
            <a:off x="2846319" y="1605285"/>
            <a:ext cx="0" cy="4071937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accent1"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任意多边形 12" descr="d8ee1687-6d46-4aae-b507-c450f9056936"/>
          <p:cNvSpPr>
            <a:spLocks noChangeAspect="1"/>
          </p:cNvSpPr>
          <p:nvPr/>
        </p:nvSpPr>
        <p:spPr bwMode="auto">
          <a:xfrm>
            <a:off x="1851756" y="4761555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accent1">
              <a:alpha val="1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matchingName="Section Header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3ada9cb5-5c5e-4a22-9db3-48a148bd29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标题 4" descr="8413eb37-1697-408c-8907-dc0cc826f51d"/>
          <p:cNvSpPr>
            <a:spLocks noGrp="1"/>
          </p:cNvSpPr>
          <p:nvPr>
            <p:ph type="title" hasCustomPrompt="1"/>
          </p:nvPr>
        </p:nvSpPr>
        <p:spPr>
          <a:xfrm>
            <a:off x="660400" y="2123623"/>
            <a:ext cx="5981700" cy="128608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sz="4800"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 descr="0ce319e8-2243-4ad5-944c-3c0d75fffe4d"/>
          <p:cNvSpPr>
            <a:spLocks noGrp="1"/>
          </p:cNvSpPr>
          <p:nvPr>
            <p:ph type="body" sz="quarter" idx="1" hasCustomPrompt="1"/>
          </p:nvPr>
        </p:nvSpPr>
        <p:spPr>
          <a:xfrm>
            <a:off x="660400" y="3621799"/>
            <a:ext cx="5981700" cy="148723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Font typeface="+mj-lt"/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4" name="日期占位符 3" descr="4c5caeb5-05f0-417b-a330-33e51857931b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 descr="09f85980-3df0-4cdd-8d89-050be3fde0e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iSlide</a:t>
            </a:r>
            <a:endParaRPr lang="zh-CN" altLang="en-US"/>
          </a:p>
        </p:txBody>
      </p:sp>
      <p:sp>
        <p:nvSpPr>
          <p:cNvPr id="8" name="灯片编号占位符 7" descr="84ba8c0a-2295-47d2-9fc2-62598e64995c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5261052b-d83c-46c0-94a3-7f1a2d534ddd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 descr="4d25431a-4434-4506-ae87-406c0815c16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e605216e-3797-4a18-8bcc-48bad75d4f2f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 descr="6ec748f9-d380-4033-b330-5783ae2923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d01f9fd1-2d1b-4a35-80c7-e355b1196d9c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97c19ca5-9844-4008-89d9-3ee345ddeec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 descr="3b105f6e-86b7-4680-abcb-84253bfb675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e9f28214-5cbd-4415-8cc2-089244c0215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标题 4" descr="43776481-344f-4baf-890f-3e92542949f2"/>
          <p:cNvSpPr>
            <a:spLocks noGrp="1"/>
          </p:cNvSpPr>
          <p:nvPr>
            <p:ph type="title" hasCustomPrompt="1"/>
          </p:nvPr>
        </p:nvSpPr>
        <p:spPr>
          <a:xfrm>
            <a:off x="660400" y="1104900"/>
            <a:ext cx="6438900" cy="3517900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lnSpc>
                <a:spcPct val="100000"/>
              </a:lnSpc>
              <a:defRPr sz="9600">
                <a:ln w="19050"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4">
                        <a:lumMod val="60000"/>
                        <a:lumOff val="40000"/>
                      </a:schemeClr>
                    </a:gs>
                  </a:gsLst>
                  <a:lin ang="0" scaled="1"/>
                </a:gra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 descr="9043d75a-6496-4d59-8f0d-b9f9c2f79f91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476101"/>
            <a:ext cx="643890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 descr="49ed17c2-4d47-442c-9c13-7d2ea8e04510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780901"/>
            <a:ext cx="643890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20XX.XX.XX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8">
            <a:alphaModFix amt="2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93" t="22442" r="38374" b="25525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660400" y="1018678"/>
            <a:ext cx="10858500" cy="0"/>
          </a:xfrm>
          <a:prstGeom prst="line">
            <a:avLst/>
          </a:prstGeom>
          <a:ln>
            <a:gradFill flip="none" rotWithShape="1">
              <a:gsLst>
                <a:gs pos="14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image" Target="../media/image2.pn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2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48784fa9-c2b2-431d-a12a-cc42239edab1"/>
          <p:cNvSpPr>
            <a:spLocks noGrp="1"/>
          </p:cNvSpPr>
          <p:nvPr>
            <p:ph type="ctrTitle" hasCustomPrompt="1"/>
          </p:nvPr>
        </p:nvSpPr>
        <p:spPr>
          <a:xfrm>
            <a:off x="589915" y="2245995"/>
            <a:ext cx="5969000" cy="991235"/>
          </a:xfrm>
        </p:spPr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5400" b="1" i="0" u="none">
                <a:latin typeface="Arial" panose="020B0604020202020204"/>
              </a:rPr>
              <a:t>RuyiSDK 介绍</a:t>
            </a:r>
            <a:endParaRPr lang="en-US" sz="5400" b="1" i="0" u="none">
              <a:latin typeface="Arial" panose="020B0604020202020204"/>
            </a:endParaRPr>
          </a:p>
        </p:txBody>
      </p:sp>
      <p:sp>
        <p:nvSpPr>
          <p:cNvPr id="9" name="副标题 8" descr="7652301d-df0c-4c93-8645-de45d446f71e"/>
          <p:cNvSpPr>
            <a:spLocks noGrp="1"/>
          </p:cNvSpPr>
          <p:nvPr>
            <p:ph type="subTitle" sz="quarter" idx="1" hasCustomPrompt="1"/>
          </p:nvPr>
        </p:nvSpPr>
        <p:spPr>
          <a:xfrm>
            <a:off x="1057910" y="3293110"/>
            <a:ext cx="4867275" cy="375920"/>
          </a:xfrm>
        </p:spPr>
        <p:txBody>
          <a:bodyPr anchorCtr="0">
            <a:normAutofit fontScale="80000"/>
          </a:bodyPr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400" b="0" i="0" u="none" strike="noStrike">
                <a:solidFill>
                  <a:srgbClr val="FFFFFF"/>
                </a:solidFill>
                <a:latin typeface="微软雅黑" panose="020B0503020204020204" charset="-122"/>
              </a:rPr>
              <a:t>                                                 </a:t>
            </a:r>
            <a:r>
              <a:rPr lang="en-US" sz="2000" b="0" i="0" u="none" strike="noStrike">
                <a:solidFill>
                  <a:srgbClr val="FFFFFF"/>
                </a:solidFill>
                <a:latin typeface="微软雅黑" panose="020B0503020204020204" charset="-122"/>
              </a:rPr>
              <a:t>打造 RISC-V 便捷开发环境</a:t>
            </a:r>
            <a:endParaRPr lang="en-US" sz="2000" b="0" i="0" u="none" strike="noStrike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fbcad822-a45c-46e8-b5a4-331de96a3f90.source.3.zh-Hans.pptx" descr="ac352374-d636-49bc-ab6d-66d049a28064"/>
          <p:cNvGrpSpPr/>
          <p:nvPr>
            <p:custDataLst>
              <p:tags r:id="rId1"/>
            </p:custDataLst>
          </p:nvPr>
        </p:nvGrpSpPr>
        <p:grpSpPr>
          <a:xfrm>
            <a:off x="595346" y="1143002"/>
            <a:ext cx="10923554" cy="4991098"/>
            <a:chOff x="595346" y="1143002"/>
            <a:chExt cx="10923554" cy="4991098"/>
          </a:xfrm>
        </p:grpSpPr>
        <p:sp>
          <p:nvSpPr>
            <p:cNvPr id="3" name="Title" descr="cbabe8de-a232-4590-bfb7-843d72cdfe27"/>
            <p:cNvSpPr txBox="1"/>
            <p:nvPr/>
          </p:nvSpPr>
          <p:spPr>
            <a:xfrm flipH="1">
              <a:off x="660400" y="1143002"/>
              <a:ext cx="10248616" cy="100713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5400" b="1" i="0" u="none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cxnSp>
          <p:nvCxnSpPr>
            <p:cNvPr id="6" name="直接连接符 5" descr="4ab708c9-0e88-4ddc-a62e-21780e438f96"/>
            <p:cNvCxnSpPr/>
            <p:nvPr>
              <p:custDataLst>
                <p:tags r:id="rId2"/>
              </p:custDataLst>
            </p:nvPr>
          </p:nvCxnSpPr>
          <p:spPr>
            <a:xfrm>
              <a:off x="660400" y="3441280"/>
              <a:ext cx="108585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 descr="401541da-f2bd-4da3-b48e-0bbb3f310ef9"/>
            <p:cNvCxnSpPr/>
            <p:nvPr>
              <p:custDataLst>
                <p:tags r:id="rId3"/>
              </p:custDataLst>
            </p:nvPr>
          </p:nvCxnSpPr>
          <p:spPr>
            <a:xfrm>
              <a:off x="660400" y="4787685"/>
              <a:ext cx="108585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 descr="87a1a356-0726-4286-849e-a1bd66165936"/>
            <p:cNvCxnSpPr/>
            <p:nvPr/>
          </p:nvCxnSpPr>
          <p:spPr>
            <a:xfrm>
              <a:off x="660400" y="6134100"/>
              <a:ext cx="108585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IconMisc" descr="172a6c74-bd71-4ccb-9d28-de50e0367b95"/>
            <p:cNvSpPr/>
            <p:nvPr/>
          </p:nvSpPr>
          <p:spPr>
            <a:xfrm flipH="1">
              <a:off x="10922657" y="1494342"/>
              <a:ext cx="304842" cy="304457"/>
            </a:xfrm>
            <a:custGeom>
              <a:avLst/>
              <a:gdLst>
                <a:gd name="connsiteX0" fmla="*/ 21433 w 607299"/>
                <a:gd name="connsiteY0" fmla="*/ 294327 h 606533"/>
                <a:gd name="connsiteX1" fmla="*/ 303579 w 607299"/>
                <a:gd name="connsiteY1" fmla="*/ 576051 h 606533"/>
                <a:gd name="connsiteX2" fmla="*/ 585814 w 607299"/>
                <a:gd name="connsiteY2" fmla="*/ 294327 h 606533"/>
                <a:gd name="connsiteX3" fmla="*/ 603526 w 607299"/>
                <a:gd name="connsiteY3" fmla="*/ 294327 h 606533"/>
                <a:gd name="connsiteX4" fmla="*/ 603793 w 607299"/>
                <a:gd name="connsiteY4" fmla="*/ 312101 h 606533"/>
                <a:gd name="connsiteX5" fmla="*/ 312568 w 607299"/>
                <a:gd name="connsiteY5" fmla="*/ 602801 h 606533"/>
                <a:gd name="connsiteX6" fmla="*/ 294767 w 607299"/>
                <a:gd name="connsiteY6" fmla="*/ 602801 h 606533"/>
                <a:gd name="connsiteX7" fmla="*/ 3632 w 607299"/>
                <a:gd name="connsiteY7" fmla="*/ 312101 h 606533"/>
                <a:gd name="connsiteX8" fmla="*/ 3632 w 607299"/>
                <a:gd name="connsiteY8" fmla="*/ 294594 h 606533"/>
                <a:gd name="connsiteX9" fmla="*/ 21433 w 607299"/>
                <a:gd name="connsiteY9" fmla="*/ 294327 h 606533"/>
                <a:gd name="connsiteX10" fmla="*/ 12428 w 607299"/>
                <a:gd name="connsiteY10" fmla="*/ 1 h 606533"/>
                <a:gd name="connsiteX11" fmla="*/ 21451 w 607299"/>
                <a:gd name="connsiteY11" fmla="*/ 3634 h 606533"/>
                <a:gd name="connsiteX12" fmla="*/ 303606 w 607299"/>
                <a:gd name="connsiteY12" fmla="*/ 285388 h 606533"/>
                <a:gd name="connsiteX13" fmla="*/ 585850 w 607299"/>
                <a:gd name="connsiteY13" fmla="*/ 3634 h 606533"/>
                <a:gd name="connsiteX14" fmla="*/ 603385 w 607299"/>
                <a:gd name="connsiteY14" fmla="*/ 3634 h 606533"/>
                <a:gd name="connsiteX15" fmla="*/ 603652 w 607299"/>
                <a:gd name="connsiteY15" fmla="*/ 21411 h 606533"/>
                <a:gd name="connsiteX16" fmla="*/ 312507 w 607299"/>
                <a:gd name="connsiteY16" fmla="*/ 312142 h 606533"/>
                <a:gd name="connsiteX17" fmla="*/ 294616 w 607299"/>
                <a:gd name="connsiteY17" fmla="*/ 312142 h 606533"/>
                <a:gd name="connsiteX18" fmla="*/ 3472 w 607299"/>
                <a:gd name="connsiteY18" fmla="*/ 21411 h 606533"/>
                <a:gd name="connsiteX19" fmla="*/ 3472 w 607299"/>
                <a:gd name="connsiteY19" fmla="*/ 3901 h 606533"/>
                <a:gd name="connsiteX20" fmla="*/ 12428 w 607299"/>
                <a:gd name="connsiteY20" fmla="*/ 1 h 606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07299" h="606533">
                  <a:moveTo>
                    <a:pt x="21433" y="294327"/>
                  </a:moveTo>
                  <a:lnTo>
                    <a:pt x="303579" y="576051"/>
                  </a:lnTo>
                  <a:lnTo>
                    <a:pt x="585814" y="294327"/>
                  </a:lnTo>
                  <a:cubicBezTo>
                    <a:pt x="590709" y="289528"/>
                    <a:pt x="598453" y="289528"/>
                    <a:pt x="603526" y="294327"/>
                  </a:cubicBezTo>
                  <a:cubicBezTo>
                    <a:pt x="608421" y="299126"/>
                    <a:pt x="608599" y="307036"/>
                    <a:pt x="603793" y="312101"/>
                  </a:cubicBezTo>
                  <a:lnTo>
                    <a:pt x="312568" y="602801"/>
                  </a:lnTo>
                  <a:cubicBezTo>
                    <a:pt x="307673" y="607778"/>
                    <a:pt x="299662" y="607778"/>
                    <a:pt x="294767" y="602801"/>
                  </a:cubicBezTo>
                  <a:lnTo>
                    <a:pt x="3632" y="312101"/>
                  </a:lnTo>
                  <a:cubicBezTo>
                    <a:pt x="-1086" y="307213"/>
                    <a:pt x="-1086" y="299482"/>
                    <a:pt x="3632" y="294594"/>
                  </a:cubicBezTo>
                  <a:cubicBezTo>
                    <a:pt x="8438" y="289617"/>
                    <a:pt x="16359" y="289528"/>
                    <a:pt x="21433" y="294327"/>
                  </a:cubicBezTo>
                  <a:close/>
                  <a:moveTo>
                    <a:pt x="12428" y="1"/>
                  </a:moveTo>
                  <a:cubicBezTo>
                    <a:pt x="15666" y="-54"/>
                    <a:pt x="18915" y="1146"/>
                    <a:pt x="21451" y="3634"/>
                  </a:cubicBezTo>
                  <a:lnTo>
                    <a:pt x="303606" y="285388"/>
                  </a:lnTo>
                  <a:lnTo>
                    <a:pt x="585850" y="3634"/>
                  </a:lnTo>
                  <a:cubicBezTo>
                    <a:pt x="590746" y="-1076"/>
                    <a:pt x="598489" y="-1076"/>
                    <a:pt x="603385" y="3634"/>
                  </a:cubicBezTo>
                  <a:cubicBezTo>
                    <a:pt x="608369" y="8434"/>
                    <a:pt x="608458" y="16344"/>
                    <a:pt x="603652" y="21411"/>
                  </a:cubicBezTo>
                  <a:lnTo>
                    <a:pt x="312507" y="312142"/>
                  </a:lnTo>
                  <a:cubicBezTo>
                    <a:pt x="307612" y="317119"/>
                    <a:pt x="299601" y="317119"/>
                    <a:pt x="294616" y="312142"/>
                  </a:cubicBezTo>
                  <a:lnTo>
                    <a:pt x="3472" y="21411"/>
                  </a:lnTo>
                  <a:cubicBezTo>
                    <a:pt x="-1157" y="16522"/>
                    <a:pt x="-1157" y="8789"/>
                    <a:pt x="3472" y="3901"/>
                  </a:cubicBezTo>
                  <a:cubicBezTo>
                    <a:pt x="5964" y="1368"/>
                    <a:pt x="9191" y="57"/>
                    <a:pt x="124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</a:p>
          </p:txBody>
        </p:sp>
        <p:grpSp>
          <p:nvGrpSpPr>
            <p:cNvPr id="24" name="组合 23" descr="62dd0918-e9d7-48d1-b513-7375c28e083b"/>
            <p:cNvGrpSpPr/>
            <p:nvPr/>
          </p:nvGrpSpPr>
          <p:grpSpPr>
            <a:xfrm>
              <a:off x="660116" y="2239989"/>
              <a:ext cx="9829800" cy="1200785"/>
              <a:chOff x="660116" y="2239989"/>
              <a:chExt cx="9829800" cy="1200785"/>
            </a:xfrm>
          </p:grpSpPr>
          <p:sp>
            <p:nvSpPr>
              <p:cNvPr id="5" name="Bullet1" descr="d0067826-c1f5-4dd5-ad1f-e8be45fd5b84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205581" y="2239989"/>
                <a:ext cx="9284335" cy="1200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800" b="1" i="0" u="none" strike="noStrike">
                    <a:solidFill>
                      <a:srgbClr val="FFFFFF"/>
                    </a:solidFill>
                    <a:latin typeface="Arial" panose="020B0604020202020204"/>
                  </a:rPr>
                  <a:t>什么是</a:t>
                </a:r>
                <a:r>
                  <a:rPr lang="en-US" altLang="zh-CN" sz="1800" b="1" i="0" u="none" strike="noStrike">
                    <a:solidFill>
                      <a:srgbClr val="FFFFFF"/>
                    </a:solidFill>
                    <a:latin typeface="Arial" panose="020B0604020202020204"/>
                  </a:rPr>
                  <a:t> RISC-V</a:t>
                </a:r>
                <a:r>
                  <a:rPr lang="zh-CN" altLang="en-US" sz="1800" b="1" i="0" u="none" strike="noStrike">
                    <a:solidFill>
                      <a:srgbClr val="FFFFFF"/>
                    </a:solidFill>
                    <a:latin typeface="Arial" panose="020B0604020202020204"/>
                  </a:rPr>
                  <a:t>？</a:t>
                </a:r>
                <a:endParaRPr lang="zh-CN" altLang="en-US" sz="1800" b="1" i="0" u="none" strike="noStrik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7" name="Number1" descr="46a5df15-808f-4f3f-afaf-e2b4b8595b1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60116" y="2239989"/>
                <a:ext cx="602966" cy="12006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sz="2000" b="1" i="1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b="1" i="1" u="none">
                    <a:solidFill>
                      <a:srgbClr val="FFFFFF"/>
                    </a:solidFill>
                    <a:latin typeface="Arial" panose="020B0604020202020204"/>
                  </a:rPr>
                  <a:t>1</a:t>
                </a:r>
                <a:endParaRPr lang="en-US" sz="2000" b="1" i="1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25" name="组合 24" descr="e93ee3b2-3627-424d-b6b7-5ba1b6ac5f1c"/>
            <p:cNvGrpSpPr/>
            <p:nvPr/>
          </p:nvGrpSpPr>
          <p:grpSpPr>
            <a:xfrm>
              <a:off x="601696" y="3585128"/>
              <a:ext cx="10358120" cy="1200785"/>
              <a:chOff x="601696" y="3585128"/>
              <a:chExt cx="10358120" cy="1200785"/>
            </a:xfrm>
          </p:grpSpPr>
          <p:sp>
            <p:nvSpPr>
              <p:cNvPr id="9" name="Bullet2" descr="a1cb4f3b-2f19-42b8-8447-6a6390ec2e36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205581" y="3585128"/>
                <a:ext cx="9754235" cy="1200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800" b="1" i="0" u="none" strike="noStrike">
                    <a:solidFill>
                      <a:srgbClr val="FFFFFF"/>
                    </a:solidFill>
                    <a:latin typeface="Arial" panose="020B0604020202020204"/>
                  </a:rPr>
                  <a:t>认识你的助手</a:t>
                </a:r>
                <a:r>
                  <a:rPr lang="en-US" altLang="zh-CN" sz="1800" b="1" i="0" u="none" strike="noStrike">
                    <a:solidFill>
                      <a:srgbClr val="FFFFFF"/>
                    </a:solidFill>
                    <a:latin typeface="Arial" panose="020B0604020202020204"/>
                  </a:rPr>
                  <a:t> RuyiSDK</a:t>
                </a:r>
                <a:endParaRPr lang="en-US" altLang="zh-CN" sz="1800" b="1" i="0" u="none" strike="noStrik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1" name="Number2" descr="202ce974-0768-46f4-b201-53c2a7ad7d26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01696" y="3585128"/>
                <a:ext cx="602966" cy="12006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sz="2000" b="1" i="1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b="1" i="1" u="none">
                    <a:solidFill>
                      <a:srgbClr val="FFFFFF"/>
                    </a:solidFill>
                    <a:latin typeface="Arial" panose="020B0604020202020204"/>
                  </a:rPr>
                  <a:t>2</a:t>
                </a:r>
                <a:endParaRPr lang="en-US" sz="2000" b="1" i="1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26" name="组合 25" descr="72caa11f-c801-45f1-9a02-d576ccb70870"/>
            <p:cNvGrpSpPr/>
            <p:nvPr/>
          </p:nvGrpSpPr>
          <p:grpSpPr>
            <a:xfrm>
              <a:off x="595346" y="4930002"/>
              <a:ext cx="10306970" cy="1201558"/>
              <a:chOff x="595346" y="4930002"/>
              <a:chExt cx="10306970" cy="1201558"/>
            </a:xfrm>
          </p:grpSpPr>
          <p:sp>
            <p:nvSpPr>
              <p:cNvPr id="13" name="Bullet3" descr="4524a8a1-6a25-43c8-acf6-3a8905cbe2ea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205866" y="4930002"/>
                <a:ext cx="9696450" cy="1200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800" b="1" i="0" u="none" strike="noStrike">
                    <a:solidFill>
                      <a:srgbClr val="FFFFFF"/>
                    </a:solidFill>
                    <a:latin typeface="Arial" panose="020B0604020202020204"/>
                  </a:rPr>
                  <a:t>你的第一个</a:t>
                </a:r>
                <a:r>
                  <a:rPr lang="en-US" altLang="zh-CN" sz="1800" b="1" i="0" u="none" strike="noStrike">
                    <a:solidFill>
                      <a:srgbClr val="FFFFFF"/>
                    </a:solidFill>
                    <a:latin typeface="Arial" panose="020B0604020202020204"/>
                  </a:rPr>
                  <a:t> RISC-V </a:t>
                </a:r>
                <a:r>
                  <a:rPr lang="zh-CN" altLang="en-US" sz="1800" b="1" i="0" u="none" strike="noStrike">
                    <a:solidFill>
                      <a:srgbClr val="FFFFFF"/>
                    </a:solidFill>
                    <a:latin typeface="Arial" panose="020B0604020202020204"/>
                  </a:rPr>
                  <a:t>程序</a:t>
                </a:r>
                <a:endParaRPr lang="zh-CN" altLang="en-US" sz="1800" b="1" i="0" u="none" strike="noStrik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5" name="Number3" descr="d65c0cfc-ed69-4cf3-a753-ec62cb900675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595346" y="4930907"/>
                <a:ext cx="602966" cy="12006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ctr" anchorCtr="0">
                <a:normAutofit/>
              </a:bodyPr>
              <a:lstStyle>
                <a:defPPr>
                  <a:defRPr lang="en-US"/>
                </a:defPPr>
                <a:lvl1pPr marR="0" lvl="0" indent="0" defTabSz="913765" fontAlgn="auto"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 kumimoji="0" sz="2000" b="1" i="1" u="none" strike="noStrike" cap="none" spc="0" normalizeH="0" baseline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defRPr>
                </a:lvl1pPr>
              </a:lstStyle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b="1" i="1" u="none">
                    <a:solidFill>
                      <a:srgbClr val="FFFFFF"/>
                    </a:solidFill>
                    <a:latin typeface="Arial" panose="020B0604020202020204"/>
                  </a:rPr>
                  <a:t>3</a:t>
                </a:r>
                <a:endParaRPr lang="en-US" sz="2000" b="1" i="1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</p:grpSp>
      <p:sp>
        <p:nvSpPr>
          <p:cNvPr id="4" name="标题 3" descr="5261052b-d83c-46c0-94a3-7f1a2d534ddd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279CF0"/>
                </a:solidFill>
                <a:ea typeface="微软雅黑" panose="020B0503020204020204" charset="-122"/>
              </a:rPr>
              <a:t>目录</a:t>
            </a:r>
            <a:endParaRPr lang="en-US" sz="3600" b="1" i="0" u="none">
              <a:solidFill>
                <a:srgbClr val="279CF0"/>
              </a:solidFill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8413eb37-1697-408c-8907-dc0cc826f51d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>
                <a:latin typeface="Arial" panose="020B0604020202020204"/>
              </a:rPr>
              <a:t>1.</a:t>
            </a:r>
            <a:r>
              <a:rPr lang="zh-CN" altLang="en-US" sz="4800" b="1" i="0" u="none">
                <a:latin typeface="Arial" panose="020B0604020202020204"/>
              </a:rPr>
              <a:t>什么是</a:t>
            </a:r>
            <a:r>
              <a:rPr lang="en-US" altLang="zh-CN" sz="4800" b="1" i="0" u="none">
                <a:latin typeface="Arial" panose="020B0604020202020204"/>
              </a:rPr>
              <a:t> RISC-V</a:t>
            </a:r>
            <a:r>
              <a:rPr lang="zh-CN" altLang="en-US" sz="4800" b="1" i="0" u="none">
                <a:latin typeface="Arial" panose="020B0604020202020204"/>
              </a:rPr>
              <a:t>？</a:t>
            </a:r>
            <a:endParaRPr lang="zh-CN" altLang="en-US" sz="4800" b="1" i="0" u="none">
              <a:latin typeface="Arial" panose="020B0604020202020204"/>
            </a:endParaRPr>
          </a:p>
        </p:txBody>
      </p:sp>
      <p:sp>
        <p:nvSpPr>
          <p:cNvPr id="25" name="文本占位符 24" descr="0ce319e8-2243-4ad5-944c-3c0d75fffe4d"/>
          <p:cNvSpPr>
            <a:spLocks noGrp="1"/>
          </p:cNvSpPr>
          <p:nvPr>
            <p:ph type="body" sz="quarter" idx="1" hasCustomPrompt="1"/>
          </p:nvPr>
        </p:nvSpPr>
        <p:spPr>
          <a:xfrm>
            <a:off x="706755" y="3364230"/>
            <a:ext cx="5981700" cy="431165"/>
          </a:xfrm>
        </p:spPr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altLang="zh-CN" sz="1400" b="0" i="0" u="none">
                <a:solidFill>
                  <a:srgbClr val="FFFFFF"/>
                </a:solidFill>
                <a:ea typeface="微软雅黑" panose="020B0503020204020204" charset="-122"/>
              </a:rPr>
              <a:t>                                                        </a:t>
            </a:r>
            <a:r>
              <a:rPr lang="zh-CN" altLang="en-US" sz="1600" b="0" i="0" u="none">
                <a:solidFill>
                  <a:srgbClr val="FFFFFF"/>
                </a:solidFill>
                <a:ea typeface="微软雅黑" panose="020B0503020204020204" charset="-122"/>
              </a:rPr>
              <a:t>开放的架构，自由的未来</a:t>
            </a:r>
            <a:endParaRPr lang="zh-CN" altLang="en-US" sz="16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 descr="87a1a356-0726-4286-849e-a1bd66165936"/>
          <p:cNvCxnSpPr/>
          <p:nvPr/>
        </p:nvCxnSpPr>
        <p:spPr>
          <a:xfrm>
            <a:off x="660400" y="6046470"/>
            <a:ext cx="10858500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 descr="5261052b-d83c-46c0-94a3-7f1a2d534ddd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>
                <a:solidFill>
                  <a:srgbClr val="279CF0"/>
                </a:solidFill>
                <a:ea typeface="微软雅黑" panose="020B0503020204020204" charset="-122"/>
                <a:sym typeface="+mn-ea"/>
              </a:rPr>
              <a:t>什么是</a:t>
            </a:r>
            <a:r>
              <a:rPr lang="en-US" altLang="zh-CN">
                <a:solidFill>
                  <a:srgbClr val="279CF0"/>
                </a:solidFill>
                <a:ea typeface="微软雅黑" panose="020B0503020204020204" charset="-122"/>
                <a:sym typeface="+mn-ea"/>
              </a:rPr>
              <a:t> RISC-V</a:t>
            </a:r>
            <a:r>
              <a:rPr lang="zh-CN" altLang="en-US">
                <a:solidFill>
                  <a:srgbClr val="279CF0"/>
                </a:solidFill>
                <a:ea typeface="微软雅黑" panose="020B0503020204020204" charset="-122"/>
                <a:sym typeface="+mn-ea"/>
              </a:rPr>
              <a:t>？</a:t>
            </a:r>
            <a:endParaRPr lang="zh-CN" altLang="en-US" sz="3600" b="1" i="0" u="none">
              <a:solidFill>
                <a:srgbClr val="279CF0"/>
              </a:solidFill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359535" y="1154430"/>
            <a:ext cx="9389110" cy="103505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</a:pPr>
            <a:r>
              <a:rPr lang="zh-CN" altLang="en-US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电脑</a:t>
            </a:r>
            <a:r>
              <a:rPr lang="en-US" altLang="zh-CN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/</a:t>
            </a:r>
            <a:r>
              <a:rPr lang="zh-CN" altLang="en-US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手机的心脏是</a:t>
            </a:r>
            <a:r>
              <a:rPr lang="en-US" altLang="zh-CN" b="1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CPU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。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CPU 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能听懂的语言叫做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指令集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。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x86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（英特尔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/AMD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）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和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ARM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（苹果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/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高通）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是两种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私有语言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，你要用就得付钱或者被限制。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  <a:p>
            <a:pPr indent="0" algn="l" fontAlgn="auto">
              <a:lnSpc>
                <a:spcPct val="150000"/>
              </a:lnSpc>
            </a:pP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2" name="Number1" descr="d1e35a10-c5cf-498f-b415-d093439494af"/>
          <p:cNvSpPr txBox="1"/>
          <p:nvPr>
            <p:custDataLst>
              <p:tags r:id="rId2"/>
            </p:custDataLst>
          </p:nvPr>
        </p:nvSpPr>
        <p:spPr>
          <a:xfrm>
            <a:off x="660400" y="1557655"/>
            <a:ext cx="448310" cy="229235"/>
          </a:xfrm>
          <a:prstGeom prst="chevron">
            <a:avLst>
              <a:gd name="adj" fmla="val 37840"/>
            </a:avLst>
          </a:prstGeom>
          <a:solidFill>
            <a:schemeClr val="bg1"/>
          </a:solidFill>
          <a:ln w="28575">
            <a:solidFill>
              <a:schemeClr val="tx1"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 anchorCtr="0">
            <a:normAutofit fontScale="70000"/>
          </a:bodyPr>
          <a:lstStyle>
            <a:defPPr>
              <a:defRPr lang="en-US"/>
            </a:defPPr>
            <a:lvl1pPr algn="ctr">
              <a:defRPr sz="10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endParaRPr lang="en-US" sz="1200" b="1" i="0" u="none">
              <a:solidFill>
                <a:srgbClr val="279CF0"/>
              </a:solidFill>
              <a:latin typeface="Arial" panose="020B0604020202020204"/>
            </a:endParaRPr>
          </a:p>
        </p:txBody>
      </p:sp>
      <p:sp>
        <p:nvSpPr>
          <p:cNvPr id="3" name="Number1" descr="d1e35a10-c5cf-498f-b415-d093439494af"/>
          <p:cNvSpPr txBox="1"/>
          <p:nvPr>
            <p:custDataLst>
              <p:tags r:id="rId3"/>
            </p:custDataLst>
          </p:nvPr>
        </p:nvSpPr>
        <p:spPr>
          <a:xfrm>
            <a:off x="660400" y="3016885"/>
            <a:ext cx="448310" cy="229235"/>
          </a:xfrm>
          <a:prstGeom prst="chevron">
            <a:avLst>
              <a:gd name="adj" fmla="val 37840"/>
            </a:avLst>
          </a:prstGeom>
          <a:solidFill>
            <a:schemeClr val="bg1"/>
          </a:solidFill>
          <a:ln w="28575">
            <a:solidFill>
              <a:schemeClr val="tx1"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 anchorCtr="0">
            <a:normAutofit fontScale="70000"/>
          </a:bodyPr>
          <a:lstStyle>
            <a:defPPr>
              <a:defRPr lang="en-US"/>
            </a:defPPr>
            <a:lvl1pPr algn="ctr">
              <a:defRPr sz="10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endParaRPr lang="en-US" sz="1200" b="1" i="0" u="none">
              <a:solidFill>
                <a:srgbClr val="279CF0"/>
              </a:solidFill>
              <a:latin typeface="Arial" panose="020B0604020202020204"/>
            </a:endParaRPr>
          </a:p>
        </p:txBody>
      </p:sp>
      <p:sp>
        <p:nvSpPr>
          <p:cNvPr id="5" name="Number1" descr="d1e35a10-c5cf-498f-b415-d093439494af"/>
          <p:cNvSpPr txBox="1"/>
          <p:nvPr>
            <p:custDataLst>
              <p:tags r:id="rId4"/>
            </p:custDataLst>
          </p:nvPr>
        </p:nvSpPr>
        <p:spPr>
          <a:xfrm>
            <a:off x="660400" y="4324350"/>
            <a:ext cx="448310" cy="229235"/>
          </a:xfrm>
          <a:prstGeom prst="chevron">
            <a:avLst>
              <a:gd name="adj" fmla="val 37840"/>
            </a:avLst>
          </a:prstGeom>
          <a:solidFill>
            <a:schemeClr val="bg1"/>
          </a:solidFill>
          <a:ln w="28575">
            <a:solidFill>
              <a:schemeClr val="tx1"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 anchorCtr="0">
            <a:normAutofit fontScale="70000"/>
          </a:bodyPr>
          <a:lstStyle>
            <a:defPPr>
              <a:defRPr lang="en-US"/>
            </a:defPPr>
            <a:lvl1pPr algn="ctr">
              <a:defRPr sz="10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endParaRPr lang="en-US" sz="1200" b="1" i="0" u="none">
              <a:solidFill>
                <a:srgbClr val="279CF0"/>
              </a:solidFill>
              <a:latin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14450" y="4267835"/>
            <a:ext cx="9434195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x86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（💼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代表商业）、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ARM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（🔒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带锁的芯片）、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RISC-V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（🌍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地球，代表开放）。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60170" y="2441575"/>
            <a:ext cx="9388475" cy="13379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</a:pP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RISC-V 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是第五代精简指令集，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不仅相比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CISC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而言更具精简性，指令执行效率更高，而且它免费、开放、人人可用。就像人人都可以学世界语来自由交流一样，任何公司和个人都可以用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RISC-V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来设计自己的芯片！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fbcad822-a45c-46e8-b5a4-331de96a3f90.source.3.zh-Hans.pptx" descr="ac352374-d636-49bc-ab6d-66d049a28064"/>
          <p:cNvGrpSpPr/>
          <p:nvPr>
            <p:custDataLst>
              <p:tags r:id="rId1"/>
            </p:custDataLst>
          </p:nvPr>
        </p:nvGrpSpPr>
        <p:grpSpPr>
          <a:xfrm>
            <a:off x="660400" y="1579589"/>
            <a:ext cx="10858500" cy="4466881"/>
            <a:chOff x="660400" y="1667219"/>
            <a:chExt cx="10858500" cy="4466881"/>
          </a:xfrm>
        </p:grpSpPr>
        <p:cxnSp>
          <p:nvCxnSpPr>
            <p:cNvPr id="14" name="直接连接符 13" descr="87a1a356-0726-4286-849e-a1bd66165936"/>
            <p:cNvCxnSpPr/>
            <p:nvPr/>
          </p:nvCxnSpPr>
          <p:spPr>
            <a:xfrm>
              <a:off x="660400" y="6134100"/>
              <a:ext cx="108585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Number1" descr="46a5df15-808f-4f3f-afaf-e2b4b8595b10"/>
            <p:cNvSpPr txBox="1"/>
            <p:nvPr>
              <p:custDataLst>
                <p:tags r:id="rId2"/>
              </p:custDataLst>
            </p:nvPr>
          </p:nvSpPr>
          <p:spPr>
            <a:xfrm>
              <a:off x="695960" y="1667219"/>
              <a:ext cx="10354945" cy="8039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ctr" anchorCtr="0">
              <a:normAutofit/>
            </a:bodyPr>
            <a:lstStyle>
              <a:defPPr>
                <a:defRPr lang="en-US"/>
              </a:defPPr>
              <a:lvl1pPr marR="0" lvl="0" indent="0" defTabSz="913765" fontAlgn="auto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 kumimoji="0" sz="2000" b="1" i="1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defRPr>
              </a:lvl1pPr>
            </a:lstStyle>
            <a:p>
              <a:pPr algn="l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问题</a:t>
              </a:r>
              <a:r>
                <a:rPr lang="en-US" altLang="zh-CN" sz="2000" b="1" i="0" u="none">
                  <a:solidFill>
                    <a:srgbClr val="FFFFFF"/>
                  </a:solidFill>
                  <a:latin typeface="Arial" panose="020B0604020202020204"/>
                </a:rPr>
                <a:t> </a:t>
              </a:r>
              <a:r>
                <a:rPr lang="en-US" sz="2000" b="1" i="0" u="none">
                  <a:solidFill>
                    <a:srgbClr val="FFFFFF"/>
                  </a:solidFill>
                  <a:latin typeface="Arial" panose="020B0604020202020204"/>
                </a:rPr>
                <a:t>1 </a:t>
              </a: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：</a:t>
              </a:r>
              <a:r>
                <a:rPr lang="en-US" altLang="zh-CN" sz="2000" b="1" i="0" u="none">
                  <a:solidFill>
                    <a:srgbClr val="FFFFFF"/>
                  </a:solidFill>
                  <a:latin typeface="Arial" panose="020B0604020202020204"/>
                </a:rPr>
                <a:t>“</a:t>
              </a: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我想试试，但该买哪块板子？资料在哪找？</a:t>
              </a:r>
              <a:r>
                <a:rPr lang="en-US" altLang="zh-CN" sz="2000" b="1" i="0" u="none">
                  <a:solidFill>
                    <a:srgbClr val="FFFFFF"/>
                  </a:solidFill>
                  <a:latin typeface="Arial" panose="020B0604020202020204"/>
                </a:rPr>
                <a:t>”             </a:t>
              </a: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信息像大海捞针</a:t>
              </a:r>
              <a:endParaRPr lang="zh-CN" altLang="en-US" sz="2000" b="1" i="0" u="none">
                <a:solidFill>
                  <a:srgbClr val="FFFFFF"/>
                </a:solidFill>
                <a:latin typeface="Arial" panose="020B0604020202020204"/>
              </a:endParaRPr>
            </a:p>
          </p:txBody>
        </p:sp>
      </p:grpSp>
      <p:sp>
        <p:nvSpPr>
          <p:cNvPr id="4" name="标题 3" descr="5261052b-d83c-46c0-94a3-7f1a2d534ddd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3600" b="1" i="0" u="none">
                <a:solidFill>
                  <a:srgbClr val="279CF0"/>
                </a:solidFill>
                <a:ea typeface="微软雅黑" panose="020B0503020204020204" charset="-122"/>
              </a:rPr>
              <a:t>新手的</a:t>
            </a:r>
            <a:r>
              <a:rPr lang="zh-CN" altLang="en-US" sz="3600" b="1" i="0" u="none">
                <a:solidFill>
                  <a:srgbClr val="279CF0"/>
                </a:solidFill>
                <a:ea typeface="微软雅黑" panose="020B0503020204020204" charset="-122"/>
              </a:rPr>
              <a:t>烦恼</a:t>
            </a:r>
            <a:endParaRPr lang="zh-CN" altLang="en-US" sz="3600" b="1" i="0" u="none">
              <a:solidFill>
                <a:srgbClr val="279CF0"/>
              </a:solidFill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  <p:sp>
        <p:nvSpPr>
          <p:cNvPr id="16" name="Number1" descr="46a5df15-808f-4f3f-afaf-e2b4b8595b10"/>
          <p:cNvSpPr txBox="1"/>
          <p:nvPr>
            <p:custDataLst>
              <p:tags r:id="rId4"/>
            </p:custDataLst>
          </p:nvPr>
        </p:nvSpPr>
        <p:spPr>
          <a:xfrm>
            <a:off x="695960" y="2383790"/>
            <a:ext cx="10354945" cy="80391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anchor="ctr" anchorCtr="0">
            <a:normAutofit/>
          </a:bodyPr>
          <a:lstStyle>
            <a:defPPr>
              <a:defRPr lang="en-US"/>
            </a:defPPr>
            <a:lvl1pPr marR="0" lvl="0" indent="0" defTabSz="913765" fontAlgn="auto"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 kumimoji="0" sz="2000" b="1" i="1" u="none" strike="noStrike" cap="none" spc="0" normalizeH="0" baseline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i="0" u="none">
                <a:solidFill>
                  <a:srgbClr val="FFFFFF"/>
                </a:solidFill>
                <a:latin typeface="Arial" panose="020B0604020202020204"/>
              </a:rPr>
              <a:t>问题</a:t>
            </a:r>
            <a:r>
              <a:rPr lang="en-US" altLang="zh-CN" sz="2000" b="1" i="0" u="none">
                <a:solidFill>
                  <a:srgbClr val="FFFFFF"/>
                </a:solidFill>
                <a:latin typeface="Arial" panose="020B0604020202020204"/>
              </a:rPr>
              <a:t> 2</a:t>
            </a:r>
            <a:r>
              <a:rPr lang="en-US" sz="2000" b="1" i="0" u="none">
                <a:solidFill>
                  <a:srgbClr val="FFFFFF"/>
                </a:solidFill>
                <a:latin typeface="Arial" panose="020B0604020202020204"/>
              </a:rPr>
              <a:t> </a:t>
            </a:r>
            <a:r>
              <a:rPr lang="zh-CN" altLang="en-US" sz="2000" b="1" i="0" u="none">
                <a:solidFill>
                  <a:srgbClr val="FFFFFF"/>
                </a:solidFill>
                <a:latin typeface="Arial" panose="020B0604020202020204"/>
              </a:rPr>
              <a:t>：板子到了，怎么把系统装进去？工具怎么配置？</a:t>
            </a:r>
            <a:r>
              <a:rPr lang="en-US" altLang="zh-CN" sz="2000" b="1" i="0" u="none">
                <a:solidFill>
                  <a:srgbClr val="FFFFFF"/>
                </a:solidFill>
                <a:latin typeface="Arial" panose="020B0604020202020204"/>
              </a:rPr>
              <a:t>”              </a:t>
            </a:r>
            <a:r>
              <a:rPr lang="zh-CN" altLang="en-US" sz="2000" b="1" i="0" u="none">
                <a:solidFill>
                  <a:srgbClr val="FFFFFF"/>
                </a:solidFill>
                <a:latin typeface="Arial" panose="020B0604020202020204"/>
              </a:rPr>
              <a:t>环境配置是噩梦</a:t>
            </a:r>
            <a:endParaRPr lang="zh-CN" altLang="en-US" sz="2000" b="1" i="0" u="none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Number1" descr="46a5df15-808f-4f3f-afaf-e2b4b8595b10"/>
          <p:cNvSpPr txBox="1"/>
          <p:nvPr>
            <p:custDataLst>
              <p:tags r:id="rId5"/>
            </p:custDataLst>
          </p:nvPr>
        </p:nvSpPr>
        <p:spPr>
          <a:xfrm>
            <a:off x="695960" y="3234055"/>
            <a:ext cx="10822940" cy="80391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anchor="ctr" anchorCtr="0">
            <a:normAutofit/>
          </a:bodyPr>
          <a:lstStyle>
            <a:defPPr>
              <a:defRPr lang="en-US"/>
            </a:defPPr>
            <a:lvl1pPr marR="0" lvl="0" indent="0" defTabSz="913765" fontAlgn="auto"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 kumimoji="0" sz="2000" b="1" i="1" u="none" strike="noStrike" cap="none" spc="0" normalizeH="0" baseline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i="0" u="none">
                <a:solidFill>
                  <a:srgbClr val="FFFFFF"/>
                </a:solidFill>
                <a:latin typeface="Arial" panose="020B0604020202020204"/>
              </a:rPr>
              <a:t>问题</a:t>
            </a:r>
            <a:r>
              <a:rPr lang="en-US" altLang="zh-CN" sz="2000" b="1" i="0" u="none">
                <a:solidFill>
                  <a:srgbClr val="FFFFFF"/>
                </a:solidFill>
                <a:latin typeface="Arial" panose="020B0604020202020204"/>
              </a:rPr>
              <a:t> 3</a:t>
            </a:r>
            <a:r>
              <a:rPr lang="en-US" sz="2000" b="1" i="0" u="none">
                <a:solidFill>
                  <a:srgbClr val="FFFFFF"/>
                </a:solidFill>
                <a:latin typeface="Arial" panose="020B0604020202020204"/>
              </a:rPr>
              <a:t> </a:t>
            </a:r>
            <a:r>
              <a:rPr lang="zh-CN" altLang="en-US" sz="2000" b="1" i="0" u="none">
                <a:solidFill>
                  <a:srgbClr val="FFFFFF"/>
                </a:solidFill>
                <a:latin typeface="Arial" panose="020B0604020202020204"/>
              </a:rPr>
              <a:t>：</a:t>
            </a:r>
            <a:r>
              <a:rPr lang="en-US" altLang="zh-CN" sz="2000" b="1" i="0" u="none">
                <a:solidFill>
                  <a:srgbClr val="FFFFFF"/>
                </a:solidFill>
                <a:latin typeface="Arial" panose="020B0604020202020204"/>
              </a:rPr>
              <a:t>“</a:t>
            </a:r>
            <a:r>
              <a:rPr lang="zh-CN" altLang="en-US" sz="2000" b="1" i="0" u="none">
                <a:solidFill>
                  <a:srgbClr val="FFFFFF"/>
                </a:solidFill>
                <a:latin typeface="Arial" panose="020B0604020202020204"/>
              </a:rPr>
              <a:t>出了问题怎么办？去哪问？</a:t>
            </a:r>
            <a:r>
              <a:rPr lang="en-US" altLang="zh-CN" sz="2000" b="1" i="0" u="none">
                <a:solidFill>
                  <a:srgbClr val="FFFFFF"/>
                </a:solidFill>
                <a:latin typeface="Arial" panose="020B0604020202020204"/>
              </a:rPr>
              <a:t>”              </a:t>
            </a:r>
            <a:r>
              <a:rPr lang="zh-CN" altLang="en-US" sz="2000" b="1" i="0" u="none">
                <a:solidFill>
                  <a:srgbClr val="FFFFFF"/>
                </a:solidFill>
                <a:latin typeface="Arial" panose="020B0604020202020204"/>
              </a:rPr>
              <a:t>孤立无援</a:t>
            </a:r>
            <a:endParaRPr lang="zh-CN" altLang="en-US" sz="2000" b="1" i="0" u="none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" name="右箭头 17"/>
          <p:cNvSpPr/>
          <p:nvPr/>
        </p:nvSpPr>
        <p:spPr>
          <a:xfrm>
            <a:off x="7131050" y="1884045"/>
            <a:ext cx="520700" cy="1955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7562215" y="2687955"/>
            <a:ext cx="520700" cy="1955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右箭头 19"/>
          <p:cNvSpPr/>
          <p:nvPr/>
        </p:nvSpPr>
        <p:spPr>
          <a:xfrm>
            <a:off x="5365115" y="3538220"/>
            <a:ext cx="520700" cy="19558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8413eb37-1697-408c-8907-dc0cc826f51d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4800" b="1" i="0" u="none">
                <a:latin typeface="Arial" panose="020B0604020202020204"/>
              </a:rPr>
              <a:t>2.RuyiSDK </a:t>
            </a:r>
            <a:r>
              <a:rPr lang="zh-CN" altLang="en-US" sz="4800" b="1" i="0" u="none">
                <a:latin typeface="Arial" panose="020B0604020202020204"/>
              </a:rPr>
              <a:t>概述</a:t>
            </a:r>
            <a:endParaRPr lang="zh-CN" altLang="en-US" sz="4800" b="1" i="0" u="none">
              <a:latin typeface="Arial" panose="020B0604020202020204"/>
            </a:endParaRPr>
          </a:p>
        </p:txBody>
      </p:sp>
      <p:sp>
        <p:nvSpPr>
          <p:cNvPr id="25" name="文本占位符 24" descr="0ce319e8-2243-4ad5-944c-3c0d75fffe4d"/>
          <p:cNvSpPr>
            <a:spLocks noGrp="1"/>
          </p:cNvSpPr>
          <p:nvPr>
            <p:ph type="body" sz="quarter" idx="1" hasCustomPrompt="1"/>
          </p:nvPr>
        </p:nvSpPr>
        <p:spPr>
          <a:xfrm>
            <a:off x="660400" y="3409950"/>
            <a:ext cx="5337175" cy="451485"/>
          </a:xfrm>
        </p:spPr>
        <p:txBody>
          <a:bodyPr anchorCtr="0">
            <a:normAutofit fontScale="70000"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altLang="zh-CN" sz="1400" b="0" i="0" u="none">
                <a:solidFill>
                  <a:srgbClr val="FFFFFF"/>
                </a:solidFill>
                <a:ea typeface="微软雅黑" panose="020B0503020204020204" charset="-122"/>
              </a:rPr>
              <a:t>                                                        </a:t>
            </a:r>
            <a:r>
              <a:rPr lang="zh-CN" altLang="en-US" sz="2000" b="0" i="0" u="none">
                <a:solidFill>
                  <a:srgbClr val="FFFFFF"/>
                </a:solidFill>
                <a:ea typeface="微软雅黑" panose="020B0503020204020204" charset="-122"/>
              </a:rPr>
              <a:t>了解</a:t>
            </a:r>
            <a:r>
              <a:rPr lang="en-US" altLang="zh-CN" sz="2000" b="0" i="0" u="none">
                <a:solidFill>
                  <a:srgbClr val="FFFFFF"/>
                </a:solidFill>
                <a:ea typeface="微软雅黑" panose="020B0503020204020204" charset="-122"/>
              </a:rPr>
              <a:t> RuyiSDK </a:t>
            </a:r>
            <a:r>
              <a:rPr lang="zh-CN" altLang="en-US" sz="2000" b="0" i="0" u="none">
                <a:solidFill>
                  <a:srgbClr val="FFFFFF"/>
                </a:solidFill>
                <a:ea typeface="微软雅黑" panose="020B0503020204020204" charset="-122"/>
              </a:rPr>
              <a:t>基本信息，功能和</a:t>
            </a:r>
            <a:r>
              <a:rPr lang="zh-CN" altLang="en-US" sz="2000" b="0" i="0" u="none">
                <a:solidFill>
                  <a:srgbClr val="FFFFFF"/>
                </a:solidFill>
                <a:ea typeface="微软雅黑" panose="020B0503020204020204" charset="-122"/>
              </a:rPr>
              <a:t>目标</a:t>
            </a:r>
            <a:endParaRPr lang="zh-CN" altLang="en-US" sz="20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 descr="87a1a356-0726-4286-849e-a1bd66165936"/>
          <p:cNvCxnSpPr/>
          <p:nvPr/>
        </p:nvCxnSpPr>
        <p:spPr>
          <a:xfrm>
            <a:off x="660400" y="6046470"/>
            <a:ext cx="10858500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 descr="5261052b-d83c-46c0-94a3-7f1a2d534ddd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3600" b="1" i="0" u="none">
                <a:solidFill>
                  <a:srgbClr val="279CF0"/>
                </a:solidFill>
                <a:ea typeface="微软雅黑" panose="020B0503020204020204" charset="-122"/>
              </a:rPr>
              <a:t>基本</a:t>
            </a:r>
            <a:r>
              <a:rPr lang="zh-CN" altLang="en-US" sz="3600" b="1" i="0" u="none">
                <a:solidFill>
                  <a:srgbClr val="279CF0"/>
                </a:solidFill>
                <a:ea typeface="微软雅黑" panose="020B0503020204020204" charset="-122"/>
              </a:rPr>
              <a:t>信息</a:t>
            </a:r>
            <a:endParaRPr lang="zh-CN" altLang="en-US" sz="3600" b="1" i="0" u="none">
              <a:solidFill>
                <a:srgbClr val="279CF0"/>
              </a:solidFill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283335" y="1207770"/>
            <a:ext cx="9526905" cy="108140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</a:pP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定义：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RuyiSDK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是一个由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中国科学院软件研究所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所启动的开源项目，该项目旨在为</a:t>
            </a:r>
            <a:r>
              <a:rPr lang="en-US" altLang="zh-CN" sz="1800">
                <a:latin typeface="Arial" panose="020B0604020202020204" pitchFamily="34" charset="0"/>
                <a:ea typeface="微软雅黑" panose="020B0503020204020204" charset="-122"/>
              </a:rPr>
              <a:t> RISC-V </a:t>
            </a: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开发者提供一个便捷、完善的开发环境。</a:t>
            </a:r>
            <a:endParaRPr lang="en-US" altLang="zh-CN" sz="1800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2" name="Number1" descr="d1e35a10-c5cf-498f-b415-d093439494af"/>
          <p:cNvSpPr txBox="1"/>
          <p:nvPr>
            <p:custDataLst>
              <p:tags r:id="rId2"/>
            </p:custDataLst>
          </p:nvPr>
        </p:nvSpPr>
        <p:spPr>
          <a:xfrm>
            <a:off x="624840" y="1557655"/>
            <a:ext cx="448310" cy="229235"/>
          </a:xfrm>
          <a:prstGeom prst="chevron">
            <a:avLst>
              <a:gd name="adj" fmla="val 37840"/>
            </a:avLst>
          </a:prstGeom>
          <a:solidFill>
            <a:schemeClr val="bg1"/>
          </a:solidFill>
          <a:ln w="28575">
            <a:solidFill>
              <a:schemeClr val="tx1"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 anchorCtr="0">
            <a:normAutofit fontScale="70000"/>
          </a:bodyPr>
          <a:lstStyle>
            <a:defPPr>
              <a:defRPr lang="en-US"/>
            </a:defPPr>
            <a:lvl1pPr algn="ctr">
              <a:defRPr sz="10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endParaRPr lang="en-US" sz="1200" b="1" i="0" u="none">
              <a:solidFill>
                <a:srgbClr val="279CF0"/>
              </a:solidFill>
              <a:latin typeface="Arial" panose="020B0604020202020204"/>
            </a:endParaRPr>
          </a:p>
        </p:txBody>
      </p:sp>
      <p:sp>
        <p:nvSpPr>
          <p:cNvPr id="3" name="Number1" descr="d1e35a10-c5cf-498f-b415-d093439494af"/>
          <p:cNvSpPr txBox="1"/>
          <p:nvPr>
            <p:custDataLst>
              <p:tags r:id="rId3"/>
            </p:custDataLst>
          </p:nvPr>
        </p:nvSpPr>
        <p:spPr>
          <a:xfrm>
            <a:off x="624840" y="2976880"/>
            <a:ext cx="448310" cy="229235"/>
          </a:xfrm>
          <a:prstGeom prst="chevron">
            <a:avLst>
              <a:gd name="adj" fmla="val 37840"/>
            </a:avLst>
          </a:prstGeom>
          <a:solidFill>
            <a:schemeClr val="bg1"/>
          </a:solidFill>
          <a:ln w="28575">
            <a:solidFill>
              <a:schemeClr val="tx1"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 anchorCtr="0">
            <a:normAutofit fontScale="70000"/>
          </a:bodyPr>
          <a:lstStyle>
            <a:defPPr>
              <a:defRPr lang="en-US"/>
            </a:defPPr>
            <a:lvl1pPr algn="ctr">
              <a:defRPr sz="10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endParaRPr lang="en-US" sz="1200" b="1" i="0" u="none">
              <a:solidFill>
                <a:srgbClr val="279CF0"/>
              </a:solidFill>
              <a:latin typeface="Arial" panose="020B0604020202020204"/>
            </a:endParaRPr>
          </a:p>
        </p:txBody>
      </p:sp>
      <p:sp>
        <p:nvSpPr>
          <p:cNvPr id="5" name="Number1" descr="d1e35a10-c5cf-498f-b415-d093439494af"/>
          <p:cNvSpPr txBox="1"/>
          <p:nvPr>
            <p:custDataLst>
              <p:tags r:id="rId4"/>
            </p:custDataLst>
          </p:nvPr>
        </p:nvSpPr>
        <p:spPr>
          <a:xfrm>
            <a:off x="660400" y="4476750"/>
            <a:ext cx="448310" cy="229235"/>
          </a:xfrm>
          <a:prstGeom prst="chevron">
            <a:avLst>
              <a:gd name="adj" fmla="val 37840"/>
            </a:avLst>
          </a:prstGeom>
          <a:solidFill>
            <a:schemeClr val="bg1"/>
          </a:solidFill>
          <a:ln w="28575">
            <a:solidFill>
              <a:schemeClr val="tx1">
                <a:alpha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 anchorCtr="0">
            <a:normAutofit fontScale="70000"/>
          </a:bodyPr>
          <a:lstStyle>
            <a:defPPr>
              <a:defRPr lang="en-US"/>
            </a:defPPr>
            <a:lvl1pPr algn="ctr">
              <a:defRPr sz="1000" b="1">
                <a:solidFill>
                  <a:schemeClr val="accen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/>
            <a:endParaRPr lang="en-US" sz="1200" b="1" i="0" u="none">
              <a:solidFill>
                <a:srgbClr val="279CF0"/>
              </a:solidFill>
              <a:latin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83335" y="4098290"/>
            <a:ext cx="9434195" cy="119888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l" fontAlgn="auto">
              <a:lnSpc>
                <a:spcPct val="150000"/>
              </a:lnSpc>
            </a:pP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目标：希望为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RISC-V 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开发者提供一个完善、便捷的开发环境，使得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 RISC-V 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成为主流架构，以及建设并运营一个完善的社区以便开发者交流。</a:t>
            </a:r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83970" y="2907030"/>
            <a:ext cx="938847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由谁打造：由热心肠的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中国科学院软件研究所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的工程师们制作并开源免费给大家用。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fbcad822-a45c-46e8-b5a4-331de96a3f90.source.3.zh-Hans.pptx" descr="ac352374-d636-49bc-ab6d-66d049a28064"/>
          <p:cNvGrpSpPr/>
          <p:nvPr>
            <p:custDataLst>
              <p:tags r:id="rId1"/>
            </p:custDataLst>
          </p:nvPr>
        </p:nvGrpSpPr>
        <p:grpSpPr>
          <a:xfrm>
            <a:off x="579120" y="1260475"/>
            <a:ext cx="10858500" cy="5034280"/>
            <a:chOff x="660400" y="1667219"/>
            <a:chExt cx="10858500" cy="4526605"/>
          </a:xfrm>
        </p:grpSpPr>
        <p:cxnSp>
          <p:nvCxnSpPr>
            <p:cNvPr id="14" name="直接连接符 13" descr="87a1a356-0726-4286-849e-a1bd66165936"/>
            <p:cNvCxnSpPr/>
            <p:nvPr/>
          </p:nvCxnSpPr>
          <p:spPr>
            <a:xfrm>
              <a:off x="660400" y="6134100"/>
              <a:ext cx="108585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Number1" descr="46a5df15-808f-4f3f-afaf-e2b4b8595b10"/>
            <p:cNvSpPr txBox="1"/>
            <p:nvPr>
              <p:custDataLst>
                <p:tags r:id="rId2"/>
              </p:custDataLst>
            </p:nvPr>
          </p:nvSpPr>
          <p:spPr>
            <a:xfrm>
              <a:off x="741680" y="1667219"/>
              <a:ext cx="10389870" cy="45266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ctr" anchorCtr="0">
              <a:normAutofit fontScale="90000" lnSpcReduction="10000"/>
            </a:bodyPr>
            <a:lstStyle>
              <a:defPPr>
                <a:defRPr lang="en-US"/>
              </a:defPPr>
              <a:lvl1pPr marR="0" lvl="0" indent="0" defTabSz="913765" fontAlgn="auto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 kumimoji="0" sz="2000" b="1" i="1" u="none" strike="noStrike" cap="none" spc="0" normalizeH="0" baseline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defRPr>
              </a:lvl1pPr>
            </a:lstStyle>
            <a:p>
              <a:pPr algn="l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功能</a:t>
              </a:r>
              <a:r>
                <a:rPr lang="en-US" altLang="zh-CN" sz="2000" b="1" i="0" u="none">
                  <a:solidFill>
                    <a:srgbClr val="FFFFFF"/>
                  </a:solidFill>
                  <a:latin typeface="Arial" panose="020B0604020202020204"/>
                </a:rPr>
                <a:t> </a:t>
              </a:r>
              <a:r>
                <a:rPr lang="en-US" sz="2000" b="1" i="0" u="none">
                  <a:solidFill>
                    <a:srgbClr val="FFFFFF"/>
                  </a:solidFill>
                  <a:latin typeface="Arial" panose="020B0604020202020204"/>
                </a:rPr>
                <a:t>1 </a:t>
              </a: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：</a:t>
              </a:r>
              <a:r>
                <a:rPr lang="en-US" altLang="zh-CN" sz="2000" b="1" i="0" u="none">
                  <a:solidFill>
                    <a:srgbClr val="FFFFFF"/>
                  </a:solidFill>
                  <a:latin typeface="Arial" panose="020B0604020202020204"/>
                </a:rPr>
                <a:t>Ruyi </a:t>
              </a: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包管理器</a:t>
              </a:r>
              <a:endParaRPr lang="zh-CN" altLang="en-US" sz="2000" b="1" i="0" u="none">
                <a:solidFill>
                  <a:srgbClr val="FFFFFF"/>
                </a:solidFill>
                <a:latin typeface="Arial" panose="020B0604020202020204"/>
              </a:endParaRPr>
            </a:p>
            <a:p>
              <a:pPr algn="l">
                <a:spcBef>
                  <a:spcPct val="0"/>
                </a:spcBef>
                <a:spcAft>
                  <a:spcPct val="0"/>
                </a:spcAft>
              </a:pPr>
              <a:endParaRPr lang="zh-CN" altLang="en-US" sz="2000" b="1" i="0" u="none">
                <a:solidFill>
                  <a:srgbClr val="FFFFFF"/>
                </a:solidFill>
                <a:latin typeface="Arial" panose="020B0604020202020204"/>
              </a:endParaRPr>
            </a:p>
            <a:p>
              <a:pPr indent="457200" algn="l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定位：在线的、专为</a:t>
              </a:r>
              <a:r>
                <a:rPr lang="en-US" altLang="zh-CN" sz="2000" b="1" i="0" u="none">
                  <a:solidFill>
                    <a:srgbClr val="FFFFFF"/>
                  </a:solidFill>
                  <a:latin typeface="Arial" panose="020B0604020202020204"/>
                </a:rPr>
                <a:t> RISC-V </a:t>
              </a: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优化的</a:t>
              </a:r>
              <a:r>
                <a:rPr lang="en-US" altLang="zh-CN" sz="2000" b="1" i="0" u="none">
                  <a:solidFill>
                    <a:srgbClr val="FFFFFF"/>
                  </a:solidFill>
                  <a:latin typeface="Arial" panose="020B0604020202020204"/>
                </a:rPr>
                <a:t>“</a:t>
              </a: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软件应用商店</a:t>
              </a:r>
              <a:r>
                <a:rPr lang="en-US" altLang="zh-CN" sz="2000" b="1" i="0" u="none">
                  <a:solidFill>
                    <a:srgbClr val="FFFFFF"/>
                  </a:solidFill>
                  <a:latin typeface="Arial" panose="020B0604020202020204"/>
                </a:rPr>
                <a:t>”</a:t>
              </a: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。</a:t>
              </a:r>
              <a:endParaRPr lang="zh-CN" altLang="en-US" sz="2000" b="1" i="0" u="none">
                <a:solidFill>
                  <a:srgbClr val="FFFFFF"/>
                </a:solidFill>
                <a:latin typeface="Arial" panose="020B0604020202020204"/>
              </a:endParaRPr>
            </a:p>
            <a:p>
              <a:pPr algn="l">
                <a:spcBef>
                  <a:spcPct val="0"/>
                </a:spcBef>
                <a:spcAft>
                  <a:spcPct val="0"/>
                </a:spcAft>
              </a:pPr>
              <a:endParaRPr lang="en-US" altLang="zh-CN" sz="2000" b="1" i="0" u="none">
                <a:solidFill>
                  <a:srgbClr val="FFFFFF"/>
                </a:solidFill>
                <a:latin typeface="Arial" panose="020B0604020202020204"/>
              </a:endParaRPr>
            </a:p>
            <a:p>
              <a:pPr algn="l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b="1" i="0" u="none">
                  <a:solidFill>
                    <a:srgbClr val="FFFFFF"/>
                  </a:solidFill>
                  <a:latin typeface="Arial" panose="020B0604020202020204"/>
                </a:rPr>
                <a:t>       </a:t>
              </a: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提供内容（可视化列表）：</a:t>
              </a:r>
              <a:endParaRPr lang="zh-CN" altLang="en-US" sz="2000" b="1" i="0" u="none">
                <a:solidFill>
                  <a:srgbClr val="FFFFFF"/>
                </a:solidFill>
                <a:latin typeface="Arial" panose="020B0604020202020204"/>
              </a:endParaRPr>
            </a:p>
            <a:p>
              <a:pPr algn="l">
                <a:spcBef>
                  <a:spcPct val="0"/>
                </a:spcBef>
                <a:spcAft>
                  <a:spcPct val="0"/>
                </a:spcAft>
              </a:pPr>
              <a:endParaRPr lang="en-US" altLang="zh-CN" sz="2000" b="1" i="0" u="none">
                <a:solidFill>
                  <a:srgbClr val="FFFFFF"/>
                </a:solidFill>
                <a:latin typeface="Arial" panose="020B0604020202020204"/>
              </a:endParaRPr>
            </a:p>
            <a:p>
              <a:pPr lvl="2" algn="l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800" b="1" i="0" u="none">
                  <a:solidFill>
                    <a:srgbClr val="FFFFFF"/>
                  </a:solidFill>
                  <a:latin typeface="Arial" panose="020B0604020202020204"/>
                </a:rPr>
                <a:t>🔧</a:t>
              </a:r>
              <a:r>
                <a:rPr lang="en-US" altLang="zh-CN" sz="1800" b="1" i="0" u="none">
                  <a:solidFill>
                    <a:srgbClr val="FFFFFF"/>
                  </a:solidFill>
                  <a:latin typeface="Arial" panose="020B0604020202020204"/>
                </a:rPr>
                <a:t>  </a:t>
              </a:r>
              <a:r>
                <a:rPr lang="zh-CN" altLang="en-US" sz="1800" b="1" i="0" u="none">
                  <a:solidFill>
                    <a:srgbClr val="FFFFFF"/>
                  </a:solidFill>
                  <a:latin typeface="Arial" panose="020B0604020202020204"/>
                </a:rPr>
                <a:t>工具链</a:t>
              </a:r>
              <a:r>
                <a:rPr lang="en-US" altLang="zh-CN" sz="1800" b="1" i="0" u="none">
                  <a:solidFill>
                    <a:srgbClr val="FFFFFF"/>
                  </a:solidFill>
                  <a:latin typeface="Arial" panose="020B0604020202020204"/>
                </a:rPr>
                <a:t> (GCC , LLVM, ...)</a:t>
              </a:r>
              <a:endParaRPr lang="en-US" altLang="zh-CN" sz="1800" b="1" i="0" u="none">
                <a:solidFill>
                  <a:srgbClr val="FFFFFF"/>
                </a:solidFill>
                <a:latin typeface="Arial" panose="020B0604020202020204"/>
              </a:endParaRPr>
            </a:p>
            <a:p>
              <a:pPr algn="l">
                <a:spcBef>
                  <a:spcPct val="0"/>
                </a:spcBef>
                <a:spcAft>
                  <a:spcPct val="0"/>
                </a:spcAft>
              </a:pPr>
              <a:endParaRPr lang="en-US" altLang="zh-CN" sz="2000" b="1" i="0" u="none">
                <a:solidFill>
                  <a:srgbClr val="FFFFFF"/>
                </a:solidFill>
                <a:latin typeface="Arial" panose="020B0604020202020204"/>
              </a:endParaRPr>
            </a:p>
            <a:p>
              <a:pPr marL="457200" lvl="1" indent="457200" algn="l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🐞</a:t>
              </a:r>
              <a:r>
                <a:rPr lang="en-US" altLang="zh-CN" sz="2000" b="1" i="0" u="none">
                  <a:solidFill>
                    <a:srgbClr val="FFFFFF"/>
                  </a:solidFill>
                  <a:latin typeface="Arial" panose="020B0604020202020204"/>
                </a:rPr>
                <a:t>  </a:t>
              </a: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调试工具</a:t>
              </a:r>
              <a:r>
                <a:rPr lang="en-US" altLang="zh-CN" sz="2000" b="1" i="0" u="none">
                  <a:solidFill>
                    <a:srgbClr val="FFFFFF"/>
                  </a:solidFill>
                  <a:latin typeface="Arial" panose="020B0604020202020204"/>
                </a:rPr>
                <a:t> (GDB, ...)</a:t>
              </a:r>
              <a:endParaRPr lang="en-US" altLang="zh-CN" sz="2000" b="1" i="0" u="none">
                <a:solidFill>
                  <a:srgbClr val="FFFFFF"/>
                </a:solidFill>
                <a:latin typeface="Arial" panose="020B0604020202020204"/>
              </a:endParaRPr>
            </a:p>
            <a:p>
              <a:pPr algn="l">
                <a:spcBef>
                  <a:spcPct val="0"/>
                </a:spcBef>
                <a:spcAft>
                  <a:spcPct val="0"/>
                </a:spcAft>
              </a:pPr>
              <a:endParaRPr lang="en-US" altLang="zh-CN" sz="2000" b="1" i="0" u="none">
                <a:solidFill>
                  <a:srgbClr val="FFFFFF"/>
                </a:solidFill>
                <a:latin typeface="Arial" panose="020B0604020202020204"/>
              </a:endParaRPr>
            </a:p>
            <a:p>
              <a:pPr marL="457200" lvl="1" indent="457200" algn="l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💻</a:t>
              </a:r>
              <a:r>
                <a:rPr lang="en-US" altLang="zh-CN" sz="2000" b="1" i="0" u="none">
                  <a:solidFill>
                    <a:srgbClr val="FFFFFF"/>
                  </a:solidFill>
                  <a:latin typeface="Arial" panose="020B0604020202020204"/>
                </a:rPr>
                <a:t>  </a:t>
              </a: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模拟器</a:t>
              </a:r>
              <a:r>
                <a:rPr lang="en-US" altLang="zh-CN" sz="2000" b="1" i="0" u="none">
                  <a:solidFill>
                    <a:srgbClr val="FFFFFF"/>
                  </a:solidFill>
                  <a:latin typeface="Arial" panose="020B0604020202020204"/>
                </a:rPr>
                <a:t> (QEMU, ...)</a:t>
              </a:r>
              <a:endParaRPr lang="en-US" altLang="zh-CN" sz="2000" b="1" i="0" u="none">
                <a:solidFill>
                  <a:srgbClr val="FFFFFF"/>
                </a:solidFill>
                <a:latin typeface="Arial" panose="020B0604020202020204"/>
              </a:endParaRPr>
            </a:p>
            <a:p>
              <a:pPr algn="l">
                <a:spcBef>
                  <a:spcPct val="0"/>
                </a:spcBef>
                <a:spcAft>
                  <a:spcPct val="0"/>
                </a:spcAft>
              </a:pPr>
              <a:endParaRPr lang="en-US" altLang="zh-CN" sz="2000" b="1" i="0" u="none">
                <a:solidFill>
                  <a:srgbClr val="FFFFFF"/>
                </a:solidFill>
                <a:latin typeface="Arial" panose="020B0604020202020204"/>
              </a:endParaRPr>
            </a:p>
            <a:p>
              <a:pPr marL="457200" lvl="1" indent="457200" algn="l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📦</a:t>
              </a:r>
              <a:r>
                <a:rPr lang="en-US" altLang="zh-CN" sz="2000" b="1" i="0" u="none">
                  <a:solidFill>
                    <a:srgbClr val="FFFFFF"/>
                  </a:solidFill>
                  <a:latin typeface="Arial" panose="020B0604020202020204"/>
                </a:rPr>
                <a:t>  </a:t>
              </a: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运行环境</a:t>
              </a:r>
              <a:endParaRPr lang="zh-CN" altLang="en-US" sz="2000" b="1" i="0" u="none">
                <a:solidFill>
                  <a:srgbClr val="FFFFFF"/>
                </a:solidFill>
                <a:latin typeface="Arial" panose="020B0604020202020204"/>
              </a:endParaRPr>
            </a:p>
            <a:p>
              <a:pPr algn="l">
                <a:spcBef>
                  <a:spcPct val="0"/>
                </a:spcBef>
                <a:spcAft>
                  <a:spcPct val="0"/>
                </a:spcAft>
              </a:pPr>
              <a:endParaRPr lang="en-US" altLang="zh-CN" sz="2000" b="1" i="0" u="none">
                <a:solidFill>
                  <a:srgbClr val="FFFFFF"/>
                </a:solidFill>
                <a:latin typeface="Arial" panose="020B0604020202020204"/>
              </a:endParaRPr>
            </a:p>
            <a:p>
              <a:pPr marL="457200" lvl="1" indent="457200" algn="l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📚</a:t>
              </a:r>
              <a:r>
                <a:rPr lang="en-US" altLang="zh-CN" sz="2000" b="1" i="0" u="none">
                  <a:solidFill>
                    <a:srgbClr val="FFFFFF"/>
                  </a:solidFill>
                  <a:latin typeface="Arial" panose="020B0604020202020204"/>
                </a:rPr>
                <a:t>  </a:t>
              </a: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文档</a:t>
              </a:r>
              <a:r>
                <a:rPr lang="en-US" altLang="zh-CN" sz="2000" b="1" i="0" u="none">
                  <a:solidFill>
                    <a:srgbClr val="FFFFFF"/>
                  </a:solidFill>
                  <a:latin typeface="Arial" panose="020B0604020202020204"/>
                </a:rPr>
                <a:t> &amp; </a:t>
              </a: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源码</a:t>
              </a:r>
              <a:endParaRPr lang="zh-CN" altLang="en-US" sz="2000" b="1" i="0" u="none">
                <a:solidFill>
                  <a:srgbClr val="FFFFFF"/>
                </a:solidFill>
                <a:latin typeface="Arial" panose="020B0604020202020204"/>
              </a:endParaRPr>
            </a:p>
            <a:p>
              <a:pPr algn="l">
                <a:spcBef>
                  <a:spcPct val="0"/>
                </a:spcBef>
                <a:spcAft>
                  <a:spcPct val="0"/>
                </a:spcAft>
              </a:pPr>
              <a:endParaRPr lang="en-US" altLang="zh-CN" sz="2000" b="1" i="0" u="none">
                <a:solidFill>
                  <a:srgbClr val="FFFFFF"/>
                </a:solidFill>
                <a:latin typeface="Arial" panose="020B0604020202020204"/>
              </a:endParaRPr>
            </a:p>
            <a:p>
              <a:pPr marL="457200" lvl="1" indent="457200" algn="l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🖼</a:t>
              </a:r>
              <a:r>
                <a:rPr lang="en-US" altLang="zh-CN" sz="2000" b="1" i="0" u="none">
                  <a:solidFill>
                    <a:srgbClr val="FFFFFF"/>
                  </a:solidFill>
                  <a:latin typeface="Arial" panose="020B0604020202020204"/>
                </a:rPr>
                <a:t>  </a:t>
              </a: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系统镜像</a:t>
              </a:r>
              <a:r>
                <a:rPr lang="en-US" altLang="zh-CN" sz="2000" b="1" i="0" u="none">
                  <a:solidFill>
                    <a:srgbClr val="FFFFFF"/>
                  </a:solidFill>
                  <a:latin typeface="Arial" panose="020B0604020202020204"/>
                </a:rPr>
                <a:t> (RevyOS, openEuler RISC-V, ...)</a:t>
              </a:r>
              <a:endParaRPr lang="en-US" altLang="zh-CN" sz="2000" b="1" i="0" u="none">
                <a:solidFill>
                  <a:srgbClr val="FFFFFF"/>
                </a:solidFill>
                <a:latin typeface="Arial" panose="020B0604020202020204"/>
              </a:endParaRPr>
            </a:p>
            <a:p>
              <a:pPr algn="l">
                <a:spcBef>
                  <a:spcPct val="0"/>
                </a:spcBef>
                <a:spcAft>
                  <a:spcPct val="0"/>
                </a:spcAft>
              </a:pPr>
              <a:endParaRPr lang="en-US" altLang="zh-CN" sz="2000" b="1" i="0" u="none">
                <a:solidFill>
                  <a:srgbClr val="FFFFFF"/>
                </a:solidFill>
                <a:latin typeface="Arial" panose="020B0604020202020204"/>
              </a:endParaRPr>
            </a:p>
            <a:p>
              <a:pPr indent="457200" algn="l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 i="0" u="none">
                  <a:solidFill>
                    <a:srgbClr val="FFFFFF"/>
                  </a:solidFill>
                  <a:latin typeface="Arial" panose="020B0604020202020204"/>
                </a:rPr>
                <a:t>价值：一个命令，获取所需一切。</a:t>
              </a:r>
              <a:endParaRPr lang="zh-CN" altLang="en-US" sz="2000" b="1" i="0" u="none">
                <a:solidFill>
                  <a:srgbClr val="FFFFFF"/>
                </a:solidFill>
                <a:latin typeface="Arial" panose="020B0604020202020204"/>
              </a:endParaRPr>
            </a:p>
          </p:txBody>
        </p:sp>
      </p:grpSp>
      <p:sp>
        <p:nvSpPr>
          <p:cNvPr id="4" name="标题 3" descr="5261052b-d83c-46c0-94a3-7f1a2d534ddd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>
                <a:sym typeface="+mn-ea"/>
              </a:rPr>
              <a:t>RuyiSDK </a:t>
            </a:r>
            <a:r>
              <a:rPr lang="zh-CN" altLang="en-US">
                <a:sym typeface="+mn-ea"/>
              </a:rPr>
              <a:t>二大功能</a:t>
            </a:r>
            <a:endParaRPr lang="zh-CN" altLang="en-US" sz="3600" b="1" i="0" u="none">
              <a:solidFill>
                <a:srgbClr val="279CF0"/>
              </a:solidFill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 descr="87a1a356-0726-4286-849e-a1bd66165936"/>
          <p:cNvCxnSpPr/>
          <p:nvPr/>
        </p:nvCxnSpPr>
        <p:spPr>
          <a:xfrm>
            <a:off x="579120" y="6228080"/>
            <a:ext cx="10858500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 descr="5261052b-d83c-46c0-94a3-7f1a2d534ddd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>
                <a:sym typeface="+mn-ea"/>
              </a:rPr>
              <a:t>RuyiSDK </a:t>
            </a:r>
            <a:r>
              <a:rPr lang="zh-CN" altLang="en-US">
                <a:sym typeface="+mn-ea"/>
              </a:rPr>
              <a:t>二大功能</a:t>
            </a:r>
            <a:endParaRPr lang="zh-CN" altLang="en-US" sz="3600" b="1" i="0" u="none">
              <a:solidFill>
                <a:srgbClr val="279CF0"/>
              </a:solidFill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0400" y="1250315"/>
            <a:ext cx="10350500" cy="464883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功能</a:t>
            </a:r>
            <a:r>
              <a:rPr lang="en-US" altLang="zh-CN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 2</a:t>
            </a:r>
            <a:r>
              <a:rPr 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：</a:t>
            </a:r>
            <a:r>
              <a:rPr lang="en-US" altLang="zh-CN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Ruyi IDE</a:t>
            </a:r>
            <a:endParaRPr lang="zh-CN" altLang="en-US" b="1" i="0" u="none">
              <a:solidFill>
                <a:srgbClr val="FFFFFF"/>
              </a:solidFill>
              <a:latin typeface="+mn-ea"/>
              <a:ea typeface="+mn-ea"/>
              <a:cs typeface="+mn-ea"/>
            </a:endParaRPr>
          </a:p>
          <a:p>
            <a:pPr indent="457200"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定位：专为</a:t>
            </a:r>
            <a:r>
              <a:rPr lang="en-US" altLang="zh-CN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 RISC-V </a:t>
            </a: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架构优化的开发工具箱，开发者可以轻松的通过</a:t>
            </a:r>
            <a:r>
              <a:rPr lang="en-US" altLang="zh-CN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 </a:t>
            </a:r>
            <a:r>
              <a:rPr lang="en-US" altLang="zh-CN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Ruyi </a:t>
            </a: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包管理器获取，可以对于实际的开发场景对于代码的编写以及调试。</a:t>
            </a: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。</a:t>
            </a:r>
            <a:endParaRPr lang="en-US" altLang="zh-CN" b="1" i="0" u="none">
              <a:solidFill>
                <a:srgbClr val="FFFFFF"/>
              </a:solidFill>
              <a:latin typeface="+mn-ea"/>
              <a:ea typeface="+mn-ea"/>
              <a:cs typeface="+mn-ea"/>
            </a:endParaRPr>
          </a:p>
          <a:p>
            <a:pPr indent="457200"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核心功能：</a:t>
            </a:r>
            <a:endParaRPr lang="en-US" altLang="zh-CN" b="1" i="0" u="none">
              <a:solidFill>
                <a:srgbClr val="FFFFFF"/>
              </a:solidFill>
              <a:latin typeface="+mn-ea"/>
              <a:ea typeface="+mn-ea"/>
              <a:cs typeface="+mn-ea"/>
            </a:endParaRPr>
          </a:p>
          <a:p>
            <a:pPr marL="457200" lvl="1" indent="457200"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无缝集成：通过包管理器一键获取工具链、调试器、模拟器。</a:t>
            </a:r>
            <a:endParaRPr lang="en-US" altLang="zh-CN" b="1" i="0" u="none">
              <a:solidFill>
                <a:srgbClr val="FFFFFF"/>
              </a:solidFill>
              <a:latin typeface="+mn-ea"/>
              <a:ea typeface="+mn-ea"/>
              <a:cs typeface="+mn-ea"/>
            </a:endParaRPr>
          </a:p>
          <a:p>
            <a:pPr marL="457200" lvl="1" indent="457200"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混合开发：支持在模拟器</a:t>
            </a:r>
            <a:r>
              <a:rPr lang="en-US" altLang="zh-CN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或</a:t>
            </a:r>
            <a:r>
              <a:rPr lang="en-US" altLang="zh-CN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 </a:t>
            </a: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真实开发板上编写、编译、调试代码。</a:t>
            </a:r>
            <a:endParaRPr lang="en-US" altLang="zh-CN" b="1" i="0" u="none">
              <a:solidFill>
                <a:srgbClr val="FFFFFF"/>
              </a:solidFill>
              <a:latin typeface="+mn-ea"/>
              <a:ea typeface="+mn-ea"/>
              <a:cs typeface="+mn-ea"/>
            </a:endParaRPr>
          </a:p>
          <a:p>
            <a:pPr marL="457200" lvl="1" indent="457200"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设备向导：为特定</a:t>
            </a:r>
            <a:r>
              <a:rPr lang="en-US" altLang="zh-CN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 RISC-V </a:t>
            </a: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开发板提供专属配置页面。</a:t>
            </a:r>
            <a:endParaRPr lang="en-US" altLang="zh-CN" b="1" i="0" u="none">
              <a:solidFill>
                <a:srgbClr val="FFFFFF"/>
              </a:solidFill>
              <a:latin typeface="+mn-ea"/>
              <a:ea typeface="+mn-ea"/>
              <a:cs typeface="+mn-ea"/>
            </a:endParaRPr>
          </a:p>
          <a:p>
            <a:pPr marL="457200" lvl="1" indent="457200"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文件传输：轻松在开发环境和运行环境之间传输文件。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 descr="87a1a356-0726-4286-849e-a1bd66165936"/>
          <p:cNvCxnSpPr/>
          <p:nvPr/>
        </p:nvCxnSpPr>
        <p:spPr>
          <a:xfrm>
            <a:off x="579120" y="6228080"/>
            <a:ext cx="10858500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 descr="5261052b-d83c-46c0-94a3-7f1a2d534ddd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b="1" i="0" u="none">
                <a:solidFill>
                  <a:srgbClr val="279CF0"/>
                </a:solidFill>
                <a:ea typeface="微软雅黑" panose="020B0503020204020204" charset="-122"/>
              </a:rPr>
              <a:t>RuyiSDK </a:t>
            </a:r>
            <a:r>
              <a:rPr lang="zh-CN" altLang="en-US" sz="3600" b="1" i="0" u="none">
                <a:solidFill>
                  <a:srgbClr val="279CF0"/>
                </a:solidFill>
                <a:ea typeface="微软雅黑" panose="020B0503020204020204" charset="-122"/>
              </a:rPr>
              <a:t>的架构</a:t>
            </a:r>
            <a:endParaRPr lang="zh-CN" altLang="en-US" sz="3600" b="1" i="0" u="none">
              <a:solidFill>
                <a:srgbClr val="279CF0"/>
              </a:solidFill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1685290" y="1132205"/>
            <a:ext cx="7797800" cy="49930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8413eb37-1697-408c-8907-dc0cc826f51d"/>
          <p:cNvSpPr>
            <a:spLocks noGrp="1"/>
          </p:cNvSpPr>
          <p:nvPr>
            <p:ph type="title" hasCustomPrompt="1"/>
          </p:nvPr>
        </p:nvSpPr>
        <p:spPr>
          <a:xfrm>
            <a:off x="381635" y="2400935"/>
            <a:ext cx="7541260" cy="1028065"/>
          </a:xfrm>
        </p:spPr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4800" b="1" i="0" u="none">
                <a:latin typeface="Arial" panose="020B0604020202020204"/>
              </a:rPr>
              <a:t>你的第一个</a:t>
            </a:r>
            <a:r>
              <a:rPr lang="en-US" altLang="zh-CN" sz="4800" b="1" i="0" u="none">
                <a:latin typeface="Arial" panose="020B0604020202020204"/>
              </a:rPr>
              <a:t> RISC-V </a:t>
            </a:r>
            <a:r>
              <a:rPr lang="zh-CN" altLang="en-US" sz="4800" b="1" i="0" u="none">
                <a:latin typeface="Arial" panose="020B0604020202020204"/>
              </a:rPr>
              <a:t>程序</a:t>
            </a:r>
            <a:endParaRPr lang="zh-CN" altLang="en-US" sz="4800" b="1" i="0" u="none">
              <a:latin typeface="Arial" panose="020B0604020202020204"/>
            </a:endParaRPr>
          </a:p>
        </p:txBody>
      </p:sp>
      <p:sp>
        <p:nvSpPr>
          <p:cNvPr id="25" name="文本占位符 24" descr="0ce319e8-2243-4ad5-944c-3c0d75fffe4d"/>
          <p:cNvSpPr>
            <a:spLocks noGrp="1"/>
          </p:cNvSpPr>
          <p:nvPr>
            <p:ph type="body" sz="quarter" idx="1" hasCustomPrompt="1"/>
          </p:nvPr>
        </p:nvSpPr>
        <p:spPr>
          <a:xfrm>
            <a:off x="660400" y="3429000"/>
            <a:ext cx="7085965" cy="555625"/>
          </a:xfrm>
        </p:spPr>
        <p:txBody>
          <a:bodyPr anchorCtr="0">
            <a:normAutofit lnSpcReduction="20000"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altLang="zh-CN" sz="1400" b="0" i="0" u="none">
                <a:solidFill>
                  <a:srgbClr val="FFFFFF"/>
                </a:solidFill>
                <a:ea typeface="微软雅黑" panose="020B0503020204020204" charset="-122"/>
              </a:rPr>
              <a:t>                                                                                  </a:t>
            </a:r>
            <a:r>
              <a:rPr lang="zh-CN" altLang="en-US" sz="1600" b="0" i="0" u="none">
                <a:solidFill>
                  <a:srgbClr val="FFFFFF"/>
                </a:solidFill>
                <a:ea typeface="微软雅黑" panose="020B0503020204020204" charset="-122"/>
              </a:rPr>
              <a:t>只需几步，即可开启探索之旅。</a:t>
            </a:r>
            <a:endParaRPr lang="zh-CN" altLang="en-US" sz="16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 descr="87a1a356-0726-4286-849e-a1bd66165936"/>
          <p:cNvCxnSpPr/>
          <p:nvPr/>
        </p:nvCxnSpPr>
        <p:spPr>
          <a:xfrm>
            <a:off x="579120" y="6228080"/>
            <a:ext cx="10858500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 descr="5261052b-d83c-46c0-94a3-7f1a2d534ddd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b="1" i="0" u="none">
                <a:solidFill>
                  <a:srgbClr val="279CF0"/>
                </a:solidFill>
                <a:ea typeface="微软雅黑" panose="020B0503020204020204" charset="-122"/>
              </a:rPr>
              <a:t>“RuyiSDK </a:t>
            </a:r>
            <a:r>
              <a:rPr lang="zh-CN" altLang="en-US" sz="3600" b="1" i="0" u="none">
                <a:solidFill>
                  <a:srgbClr val="279CF0"/>
                </a:solidFill>
                <a:ea typeface="微软雅黑" panose="020B0503020204020204" charset="-122"/>
              </a:rPr>
              <a:t>安装指南</a:t>
            </a:r>
            <a:r>
              <a:rPr lang="en-US" altLang="zh-CN" sz="3600" b="1" i="0" u="none">
                <a:solidFill>
                  <a:srgbClr val="279CF0"/>
                </a:solidFill>
                <a:ea typeface="微软雅黑" panose="020B0503020204020204" charset="-122"/>
              </a:rPr>
              <a:t> (RISC-V 64 </a:t>
            </a:r>
            <a:r>
              <a:rPr lang="zh-CN" altLang="en-US" sz="3600" b="1" i="0" u="none">
                <a:solidFill>
                  <a:srgbClr val="279CF0"/>
                </a:solidFill>
                <a:ea typeface="微软雅黑" panose="020B0503020204020204" charset="-122"/>
              </a:rPr>
              <a:t>平台</a:t>
            </a:r>
            <a:r>
              <a:rPr lang="en-US" altLang="zh-CN" sz="3600" b="1" i="0" u="none">
                <a:solidFill>
                  <a:srgbClr val="279CF0"/>
                </a:solidFill>
                <a:ea typeface="微软雅黑" panose="020B0503020204020204" charset="-122"/>
              </a:rPr>
              <a:t>)</a:t>
            </a:r>
            <a:r>
              <a:rPr lang="en-US" altLang="zh-CN" sz="3600" b="1" i="0" u="none">
                <a:solidFill>
                  <a:srgbClr val="279CF0"/>
                </a:solidFill>
                <a:ea typeface="微软雅黑" panose="020B0503020204020204" charset="-122"/>
              </a:rPr>
              <a:t>”</a:t>
            </a:r>
            <a:endParaRPr lang="en-US" altLang="zh-CN" sz="3600" b="1" i="0" u="none">
              <a:solidFill>
                <a:srgbClr val="279CF0"/>
              </a:solidFill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84225" y="1168400"/>
            <a:ext cx="10455275" cy="486791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确认平台架构（此处以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RISC-V 64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平台为例）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uname -m</a:t>
            </a: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wget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从官方镜像下载指定版本。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wget https://mirror.iscas.ac.cn/ruyisdk/ruyi/tags/0.42.0/ruyi-0.42.0.riscv64</a:t>
            </a: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chmod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命令，赋予该文件可执行权限。</a:t>
            </a: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chmod +x ./ruyi-0.42.0.riscv64</a:t>
            </a: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安装到系统路径</a:t>
            </a: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sudo cp -v ./ruyi-0.42.0.riscv64 /usr/local/bin/ruyi</a:t>
            </a: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运行版本检查命令，确认安装成功。</a:t>
            </a: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ruyi version</a:t>
            </a: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63080" y="1214755"/>
            <a:ext cx="5221605" cy="11684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如果是其他平台的指令可以使用以下网址查询自己的命令哦：</a:t>
            </a:r>
            <a:endParaRPr lang="zh-CN" altLang="en-US" sz="14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https://ruyisdk.org/docs/Package-Manager/installation</a:t>
            </a:r>
            <a:endParaRPr lang="en-US" altLang="zh-CN" sz="14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zh-CN" altLang="en-US" sz="14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 descr="87a1a356-0726-4286-849e-a1bd66165936"/>
          <p:cNvCxnSpPr/>
          <p:nvPr/>
        </p:nvCxnSpPr>
        <p:spPr>
          <a:xfrm>
            <a:off x="579120" y="6228080"/>
            <a:ext cx="10858500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 descr="5261052b-d83c-46c0-94a3-7f1a2d534ddd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3600" b="1" i="0" u="none">
                <a:solidFill>
                  <a:srgbClr val="279CF0"/>
                </a:solidFill>
                <a:ea typeface="微软雅黑" panose="020B0503020204020204" charset="-122"/>
              </a:rPr>
              <a:t>“</a:t>
            </a:r>
            <a:r>
              <a:rPr lang="zh-CN" altLang="en-US" sz="3600" b="1" i="0" u="none">
                <a:solidFill>
                  <a:srgbClr val="279CF0"/>
                </a:solidFill>
                <a:ea typeface="微软雅黑" panose="020B0503020204020204" charset="-122"/>
              </a:rPr>
              <a:t>实战：</a:t>
            </a:r>
            <a:r>
              <a:rPr lang="en-US" altLang="zh-CN" sz="3600" b="1" i="0" u="none">
                <a:solidFill>
                  <a:srgbClr val="279CF0"/>
                </a:solidFill>
                <a:ea typeface="微软雅黑" panose="020B0503020204020204" charset="-122"/>
              </a:rPr>
              <a:t>Hello </a:t>
            </a:r>
            <a:r>
              <a:rPr lang="en-US" altLang="zh-CN" sz="3600" b="1" i="0" u="none">
                <a:solidFill>
                  <a:srgbClr val="279CF0"/>
                </a:solidFill>
                <a:ea typeface="微软雅黑" panose="020B0503020204020204" charset="-122"/>
              </a:rPr>
              <a:t>RISC-V”</a:t>
            </a:r>
            <a:endParaRPr lang="en-US" altLang="zh-CN" sz="3600" b="1" i="0" u="none">
              <a:solidFill>
                <a:srgbClr val="279CF0"/>
              </a:solidFill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84225" y="1168400"/>
            <a:ext cx="10455275" cy="527431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新建一个名为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riscv-hello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的文件夹，用来存放我们的代码。</a:t>
            </a: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mkdir riscv-hello</a:t>
            </a: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 riscv-hello</a:t>
            </a: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cat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创建一个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 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语言程序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hello.c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</a:t>
            </a:r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编译与运行。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 algn="l" fontAlgn="auto">
              <a:lnSpc>
                <a:spcPct val="100000"/>
              </a:lnSpc>
              <a:buClrTx/>
              <a:buSz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gcc hello.c -o hell</a:t>
            </a: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 fontAlgn="auto">
              <a:lnSpc>
                <a:spcPct val="100000"/>
              </a:lnSpc>
              <a:buClrTx/>
              <a:buSz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ls -l</a:t>
            </a: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 fontAlgn="auto">
              <a:lnSpc>
                <a:spcPct val="100000"/>
              </a:lnSpc>
              <a:buClrTx/>
              <a:buSzTx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./hello</a:t>
            </a: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505" y="2846070"/>
            <a:ext cx="5543550" cy="1409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505" y="5692775"/>
            <a:ext cx="5326380" cy="5353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43776481-344f-4baf-890f-3e92542949f2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9600" b="1" i="0" u="none">
                <a:ea typeface="微软雅黑" panose="020B0503020204020204" charset="-122"/>
              </a:rPr>
              <a:t>谢谢观看</a:t>
            </a:r>
            <a:endParaRPr lang="en-US" sz="9600" b="1" i="0" u="none"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4725" y="0"/>
            <a:ext cx="1057275" cy="10572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2.9998425196851,&quot;left&quot;:46.87763779527559,&quot;top&quot;:90.00015748031491,&quot;width&quot;:860.1223622047244}"/>
</p:tagLst>
</file>

<file path=ppt/tags/tag2.xml><?xml version="1.0" encoding="utf-8"?>
<p:tagLst xmlns:p="http://schemas.openxmlformats.org/presentationml/2006/main">
  <p:tag name="KSO_WM_DIAGRAM_VIRTUALLY_FRAME" val="{&quot;height&quot;:392.9998425196851,&quot;left&quot;:46.87763779527559,&quot;top&quot;:90.00015748031491,&quot;width&quot;:860.1223622047244}"/>
</p:tagLst>
</file>

<file path=ppt/tags/tag3.xml><?xml version="1.0" encoding="utf-8"?>
<p:tagLst xmlns:p="http://schemas.openxmlformats.org/presentationml/2006/main">
  <p:tag name="KSO_WM_DIAGRAM_VIRTUALLY_FRAME" val="{&quot;height&quot;:392.9998425196851,&quot;left&quot;:46.87763779527559,&quot;top&quot;:90.00015748031491,&quot;width&quot;:860.1223622047244}"/>
</p:tagLst>
</file>

<file path=ppt/tags/tag4.xml><?xml version="1.0" encoding="utf-8"?>
<p:tagLst xmlns:p="http://schemas.openxmlformats.org/presentationml/2006/main">
  <p:tag name="KSO_WM_DIAGRAM_VIRTUALLY_FRAME" val="{&quot;height&quot;:392.9998425196851,&quot;left&quot;:46.87763779527559,&quot;top&quot;:90.00015748031491,&quot;width&quot;:860.1223622047244}"/>
</p:tagLst>
</file>

<file path=ppt/tags/tag5.xml><?xml version="1.0" encoding="utf-8"?>
<p:tagLst xmlns:p="http://schemas.openxmlformats.org/presentationml/2006/main">
  <p:tag name="KSO_WM_DIAGRAM_VIRTUALLY_FRAME" val="{&quot;height&quot;:392.9998425196851,&quot;left&quot;:46.87763779527559,&quot;top&quot;:90.00015748031491,&quot;width&quot;:860.1223622047244}"/>
</p:tagLst>
</file>

<file path=ppt/tags/tag6.xml><?xml version="1.0" encoding="utf-8"?>
<p:tagLst xmlns:p="http://schemas.openxmlformats.org/presentationml/2006/main">
  <p:tag name="KSO_WM_DIAGRAM_VIRTUALLY_FRAME" val="{&quot;height&quot;:392.9998425196851,&quot;left&quot;:46.87763779527559,&quot;top&quot;:90.00015748031491,&quot;width&quot;:860.1223622047244}"/>
</p:tagLst>
</file>

<file path=ppt/tags/tag7.xml><?xml version="1.0" encoding="utf-8"?>
<p:tagLst xmlns:p="http://schemas.openxmlformats.org/presentationml/2006/main">
  <p:tag name="KSO_WM_DIAGRAM_VIRTUALLY_FRAME" val="{&quot;height&quot;:392.9998425196851,&quot;left&quot;:46.87763779527559,&quot;top&quot;:90.00015748031491,&quot;width&quot;:860.1223622047244}"/>
</p:tagLst>
</file>

<file path=ppt/tags/tag8.xml><?xml version="1.0" encoding="utf-8"?>
<p:tagLst xmlns:p="http://schemas.openxmlformats.org/presentationml/2006/main">
  <p:tag name="KSO_WM_DIAGRAM_VIRTUALLY_FRAME" val="{&quot;height&quot;:392.9998425196851,&quot;left&quot;:46.87763779527559,&quot;top&quot;:90.00015748031491,&quot;width&quot;:860.1223622047244}"/>
</p:tagLst>
</file>

<file path=ppt/tags/tag9.xml><?xml version="1.0" encoding="utf-8"?>
<p:tagLst xmlns:p="http://schemas.openxmlformats.org/presentationml/2006/main">
  <p:tag name="KSO_WM_DIAGRAM_VIRTUALLY_FRAME" val="{&quot;height&quot;:392.9998425196851,&quot;left&quot;:46.87763779527559,&quot;top&quot;:90.00015748031491,&quot;width&quot;:860.1223622047244}"/>
</p:tagLst>
</file>

<file path=ppt/tags/tag10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11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12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13.xml><?xml version="1.0" encoding="utf-8"?>
<p:tagLst xmlns:p="http://schemas.openxmlformats.org/presentationml/2006/main">
  <p:tag name="KSO_WM_DIAGRAM_VIRTUALLY_FRAME" val="{&quot;height&quot;:392.9998425196851,&quot;left&quot;:46.87763779527559,&quot;top&quot;:90.00015748031491,&quot;width&quot;:860.1223622047244}"/>
</p:tagLst>
</file>

<file path=ppt/tags/tag14.xml><?xml version="1.0" encoding="utf-8"?>
<p:tagLst xmlns:p="http://schemas.openxmlformats.org/presentationml/2006/main">
  <p:tag name="KSO_WM_DIAGRAM_VIRTUALLY_FRAME" val="{&quot;height&quot;:392.9998425196851,&quot;left&quot;:46.87763779527559,&quot;top&quot;:90.00015748031491,&quot;width&quot;:860.1223622047244}"/>
</p:tagLst>
</file>

<file path=ppt/tags/tag15.xml><?xml version="1.0" encoding="utf-8"?>
<p:tagLst xmlns:p="http://schemas.openxmlformats.org/presentationml/2006/main">
  <p:tag name="KSO_WM_DIAGRAM_VIRTUALLY_FRAME" val="{&quot;height&quot;:392.9998425196851,&quot;left&quot;:46.87763779527559,&quot;top&quot;:90.00015748031491,&quot;width&quot;:860.1223622047244}"/>
</p:tagLst>
</file>

<file path=ppt/tags/tag16.xml><?xml version="1.0" encoding="utf-8"?>
<p:tagLst xmlns:p="http://schemas.openxmlformats.org/presentationml/2006/main">
  <p:tag name="KSO_WM_DIAGRAM_VIRTUALLY_FRAME" val="{&quot;height&quot;:392.9998425196851,&quot;left&quot;:46.87763779527559,&quot;top&quot;:90.00015748031491,&quot;width&quot;:860.1223622047244}"/>
</p:tagLst>
</file>

<file path=ppt/tags/tag17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18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19.xml><?xml version="1.0" encoding="utf-8"?>
<p:tagLst xmlns:p="http://schemas.openxmlformats.org/presentationml/2006/main">
  <p:tag name="KSO_WM_DIAGRAM_VIRTUALLY_FRAME" val="{&quot;height&quot;:451,&quot;left&quot;:7.874015748031496e-05,&quot;top&quot;:89,&quot;width&quot;:959.9999212598425}"/>
</p:tagLst>
</file>

<file path=ppt/tags/tag20.xml><?xml version="1.0" encoding="utf-8"?>
<p:tagLst xmlns:p="http://schemas.openxmlformats.org/presentationml/2006/main">
  <p:tag name="KSO_WM_DIAGRAM_VIRTUALLY_FRAME" val="{&quot;height&quot;:392.9998425196851,&quot;left&quot;:46.87763779527559,&quot;top&quot;:90.00015748031491,&quot;width&quot;:860.1223622047244}"/>
</p:tagLst>
</file>

<file path=ppt/tags/tag21.xml><?xml version="1.0" encoding="utf-8"?>
<p:tagLst xmlns:p="http://schemas.openxmlformats.org/presentationml/2006/main">
  <p:tag name="KSO_WM_DIAGRAM_VIRTUALLY_FRAME" val="{&quot;height&quot;:392.9998425196851,&quot;left&quot;:46.87763779527559,&quot;top&quot;:90.00015748031491,&quot;width&quot;:860.1223622047244}"/>
</p:tagLst>
</file>

<file path=ppt/tags/tag22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279CF0"/>
      </a:accent1>
      <a:accent2>
        <a:srgbClr val="0DFEFF"/>
      </a:accent2>
      <a:accent3>
        <a:srgbClr val="415DF8"/>
      </a:accent3>
      <a:accent4>
        <a:srgbClr val="F59A00"/>
      </a:accent4>
      <a:accent5>
        <a:srgbClr val="3098F5"/>
      </a:accent5>
      <a:accent6>
        <a:srgbClr val="E6C636"/>
      </a:accent6>
      <a:hlink>
        <a:srgbClr val="305BF5"/>
      </a:hlink>
      <a:folHlink>
        <a:srgbClr val="BFBFBF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1948</Words>
  <Application>WPS 演示</Application>
  <PresentationFormat>宽屏</PresentationFormat>
  <Paragraphs>128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Wingdings</vt:lpstr>
      <vt:lpstr>江城圆体 400W</vt:lpstr>
      <vt:lpstr>Designed by iSlide</vt:lpstr>
      <vt:lpstr>RuyiSDK介绍</vt:lpstr>
      <vt:lpstr>目录</vt:lpstr>
      <vt:lpstr>1.什么是RISC-V？</vt:lpstr>
      <vt:lpstr>什么是RISC-V？</vt:lpstr>
      <vt:lpstr>新手的烦恼</vt:lpstr>
      <vt:lpstr>2.RuyiSDK概述</vt:lpstr>
      <vt:lpstr>基本信息</vt:lpstr>
      <vt:lpstr>RuyiSDK二大功能</vt:lpstr>
      <vt:lpstr>RuyiSDK二大功能</vt:lpstr>
      <vt:lpstr>RuyiSDK的架构</vt:lpstr>
      <vt:lpstr>你的第一个RISC-V程序</vt:lpstr>
      <vt:lpstr>“RuyiSDK 安装指南 (RISC-V 64 平台)”</vt:lpstr>
      <vt:lpstr>“实战：Hello RISCV”</vt:lpstr>
      <vt:lpstr>谢谢观看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iSlide</dc:creator>
  <cp:lastModifiedBy>酸甜草莓酱</cp:lastModifiedBy>
  <cp:revision>24</cp:revision>
  <cp:lastPrinted>2025-04-23T00:00:00Z</cp:lastPrinted>
  <dcterms:created xsi:type="dcterms:W3CDTF">2025-04-23T00:00:00Z</dcterms:created>
  <dcterms:modified xsi:type="dcterms:W3CDTF">2025-11-27T05:47:48Z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01234f0d-63b0-47eb-8d64-d57019e6c72b</vt:lpwstr>
  </property>
  <property fmtid="{D5CDD505-2E9C-101B-9397-08002B2CF9AE}" pid="3" name="ICV">
    <vt:lpwstr>DEA2EEE08C454133962FC8B5CCCD5E07_12</vt:lpwstr>
  </property>
  <property fmtid="{D5CDD505-2E9C-101B-9397-08002B2CF9AE}" pid="4" name="KSOProductBuildVer">
    <vt:lpwstr>2052-12.1.0.23542</vt:lpwstr>
  </property>
</Properties>
</file>