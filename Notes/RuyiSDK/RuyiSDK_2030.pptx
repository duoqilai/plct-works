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4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000"/>
              <a:t>从</a:t>
            </a:r>
            <a:r>
              <a:rPr lang="en-US" altLang="zh-CN" sz="4000"/>
              <a:t> RuyiSDK 2030 </a:t>
            </a:r>
            <a:r>
              <a:rPr lang="zh-CN" altLang="en-US" sz="4000"/>
              <a:t>百万开发者目标到落地</a:t>
            </a:r>
            <a:r>
              <a:rPr lang="zh-CN" altLang="en-US" sz="4000"/>
              <a:t>执行路径</a:t>
            </a:r>
            <a:endParaRPr lang="zh-CN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sz="2000"/>
              <a:t>背景目标</a:t>
            </a:r>
            <a:r>
              <a:rPr sz="2000"/>
              <a:t>：</a:t>
            </a:r>
            <a:endParaRPr sz="2000"/>
          </a:p>
          <a:p>
            <a:r>
              <a:rPr lang="en-US" altLang="zh-CN" sz="1600"/>
              <a:t>RuyiSDK </a:t>
            </a:r>
            <a:r>
              <a:rPr lang="zh-CN" altLang="en-US" sz="1600"/>
              <a:t>当前开发者规模：约</a:t>
            </a:r>
            <a:r>
              <a:rPr lang="en-US" altLang="zh-CN" sz="1600"/>
              <a:t> 1 </a:t>
            </a:r>
            <a:r>
              <a:rPr lang="zh-CN" altLang="en-US" sz="1600"/>
              <a:t>万</a:t>
            </a:r>
            <a:endParaRPr lang="en-US" altLang="zh-CN" sz="1600"/>
          </a:p>
          <a:p>
            <a:r>
              <a:rPr lang="zh-CN" altLang="en-US" sz="1600"/>
              <a:t>长期目标（</a:t>
            </a:r>
            <a:r>
              <a:rPr lang="en-US" altLang="zh-CN" sz="1600"/>
              <a:t>2030</a:t>
            </a:r>
            <a:r>
              <a:rPr lang="zh-CN" altLang="en-US" sz="1600"/>
              <a:t>）：</a:t>
            </a:r>
            <a:r>
              <a:rPr lang="en-US" altLang="zh-CN" sz="1600"/>
              <a:t>100 </a:t>
            </a:r>
            <a:r>
              <a:rPr lang="zh-CN" altLang="en-US" sz="1600"/>
              <a:t>万开发者</a:t>
            </a:r>
            <a:endParaRPr lang="en-US" altLang="zh-CN" sz="1600"/>
          </a:p>
          <a:p>
            <a:r>
              <a:rPr lang="zh-CN" altLang="en-US" sz="1600"/>
              <a:t>核心挑战：目前重点</a:t>
            </a:r>
            <a:r>
              <a:rPr lang="zh-CN" altLang="en-US" sz="1600"/>
              <a:t>在工具</a:t>
            </a:r>
            <a:r>
              <a:rPr lang="en-US" altLang="zh-CN" sz="1600"/>
              <a:t>，</a:t>
            </a:r>
            <a:r>
              <a:rPr lang="zh-CN" altLang="en-US" sz="1600"/>
              <a:t>但是没有形成可规模化生态</a:t>
            </a:r>
            <a:endParaRPr lang="zh-CN" altLang="en-US" sz="1600"/>
          </a:p>
          <a:p>
            <a:endParaRPr lang="zh-CN" altLang="en-US" sz="1600"/>
          </a:p>
          <a:p>
            <a:pPr marL="0" indent="0">
              <a:buNone/>
            </a:pPr>
            <a:r>
              <a:rPr sz="2000"/>
              <a:t>现实问题：</a:t>
            </a:r>
            <a:endParaRPr sz="2000"/>
          </a:p>
          <a:p>
            <a:r>
              <a:rPr lang="zh-CN" altLang="en-US" sz="1600"/>
              <a:t>新开发者首次使用失败率高</a:t>
            </a:r>
            <a:endParaRPr lang="zh-CN" altLang="en-US" sz="1600"/>
          </a:p>
          <a:p>
            <a:r>
              <a:rPr lang="zh-CN" altLang="en-US" sz="1600"/>
              <a:t>不在用户刚需</a:t>
            </a:r>
            <a:r>
              <a:rPr lang="zh-CN" altLang="en-US" sz="1600"/>
              <a:t>点</a:t>
            </a:r>
            <a:endParaRPr lang="zh-CN" altLang="en-US" sz="1600"/>
          </a:p>
          <a:p>
            <a:r>
              <a:rPr lang="zh-CN" altLang="en-US" sz="1600"/>
              <a:t>原支持矩阵长期无人维护</a:t>
            </a:r>
            <a:endParaRPr lang="en-US" altLang="zh-CN" sz="1600"/>
          </a:p>
          <a:p>
            <a:r>
              <a:rPr lang="zh-CN" altLang="en-US" sz="1600"/>
              <a:t>单纯内容传播</a:t>
            </a:r>
            <a:r>
              <a:rPr lang="en-US" altLang="zh-CN" sz="1600"/>
              <a:t> </a:t>
            </a:r>
            <a:r>
              <a:rPr lang="zh-CN" altLang="en-US" sz="1600"/>
              <a:t>无法解决用户是不是能自己</a:t>
            </a:r>
            <a:r>
              <a:rPr lang="zh-CN" altLang="en-US" sz="1600"/>
              <a:t>跑通的问题</a:t>
            </a:r>
            <a:endParaRPr lang="zh-CN" altLang="en-US" sz="1600"/>
          </a:p>
          <a:p>
            <a:pPr marL="0" indent="0">
              <a:buNone/>
            </a:pPr>
            <a:endParaRPr sz="2000"/>
          </a:p>
          <a:p>
            <a:pPr marL="0" indent="0">
              <a:buNone/>
            </a:pPr>
            <a:r>
              <a:rPr lang="zh-CN" altLang="en-US" sz="2000"/>
              <a:t>百万开发者的前提</a:t>
            </a:r>
            <a:r>
              <a:rPr lang="zh-CN" altLang="en-US" sz="2000"/>
              <a:t>是可信、可复现、可维护的开发体验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从「工具发布」</a:t>
            </a:r>
            <a:r>
              <a:rPr lang="en-US" altLang="zh-CN" sz="2000"/>
              <a:t> </a:t>
            </a:r>
            <a:r>
              <a:rPr lang="en-US" altLang="en-US" sz="2000"/>
              <a:t>→</a:t>
            </a:r>
            <a:r>
              <a:rPr lang="en-US" altLang="zh-CN" sz="2000"/>
              <a:t> </a:t>
            </a:r>
            <a:r>
              <a:rPr lang="zh-CN" altLang="en-US" sz="2000"/>
              <a:t>「可被信任的开发体验体系」</a:t>
            </a:r>
            <a:endParaRPr lang="zh-CN" alt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支撑百万开发者的两条</a:t>
            </a:r>
            <a:r>
              <a:rPr lang="zh-CN" altLang="en-US">
                <a:sym typeface="+mn-ea"/>
              </a:rPr>
              <a:t>路径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操作系统支持矩阵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zh-CN" altLang="en-US" sz="2000">
                <a:sym typeface="+mn-ea"/>
              </a:rPr>
              <a:t>逻辑路径：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操作系统支持矩阵</a:t>
            </a:r>
            <a:r>
              <a:rPr lang="en-US" altLang="en-US" sz="2000">
                <a:sym typeface="+mn-ea"/>
              </a:rPr>
              <a:t>→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系统版本调研与记录</a:t>
            </a:r>
            <a:r>
              <a:rPr lang="en-US" altLang="en-US" sz="2000">
                <a:sym typeface="+mn-ea"/>
              </a:rPr>
              <a:t>→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基础可用性验证（手工测试验证）</a:t>
            </a:r>
            <a:r>
              <a:rPr lang="en-US" altLang="en-US" sz="2000">
                <a:sym typeface="+mn-ea"/>
              </a:rPr>
              <a:t>→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集成到</a:t>
            </a:r>
            <a:r>
              <a:rPr lang="en-US" altLang="zh-CN" sz="2000">
                <a:sym typeface="+mn-ea"/>
              </a:rPr>
              <a:t> RuyiSDK </a:t>
            </a:r>
            <a:r>
              <a:rPr lang="zh-CN" altLang="en-US" sz="2000">
                <a:sym typeface="+mn-ea"/>
              </a:rPr>
              <a:t>文档</a:t>
            </a:r>
            <a:r>
              <a:rPr lang="en-US" altLang="zh-CN" sz="2000">
                <a:sym typeface="+mn-ea"/>
              </a:rPr>
              <a:t> / </a:t>
            </a:r>
            <a:r>
              <a:rPr lang="zh-CN" altLang="en-US" sz="2000">
                <a:sym typeface="+mn-ea"/>
              </a:rPr>
              <a:t>流程</a:t>
            </a:r>
            <a:r>
              <a:rPr lang="en-US" altLang="en-US" sz="2000">
                <a:sym typeface="+mn-ea"/>
              </a:rPr>
              <a:t>→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提升用户与厂商信任</a:t>
            </a:r>
            <a:r>
              <a:rPr lang="en-US" altLang="en-US" sz="2000">
                <a:sym typeface="+mn-ea"/>
              </a:rPr>
              <a:t>→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支持预装与官方推荐</a:t>
            </a:r>
            <a:endParaRPr lang="zh-CN" altLang="en-US" sz="2000"/>
          </a:p>
          <a:p>
            <a:endParaRPr lang="en-US" altLang="zh-CN" sz="2000"/>
          </a:p>
          <a:p>
            <a:pPr marL="0" indent="0">
              <a:buNone/>
            </a:pPr>
            <a:r>
              <a:rPr lang="zh-CN" altLang="en-US" sz="2000">
                <a:sym typeface="+mn-ea"/>
              </a:rPr>
              <a:t>现状问题：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原支持矩阵事实停更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无验证信息，开发者试错成本高</a:t>
            </a:r>
            <a:endParaRPr lang="zh-CN" altLang="en-US" sz="200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工具链测试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89191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zh-CN" altLang="en-US" sz="2200"/>
              <a:t>目的</a:t>
            </a:r>
            <a:r>
              <a:rPr lang="en-US" altLang="zh-CN" sz="2200"/>
              <a:t>：</a:t>
            </a:r>
            <a:br>
              <a:rPr lang="en-US" altLang="zh-CN" sz="2000"/>
            </a:br>
            <a:r>
              <a:rPr lang="zh-CN" altLang="en-US" sz="2000"/>
              <a:t>解决开发者在实际使用中的不确定性</a:t>
            </a:r>
            <a:r>
              <a:rPr lang="en-US" sz="2000"/>
              <a:t>，</a:t>
            </a:r>
            <a:r>
              <a:rPr lang="zh-CN" altLang="en-US" sz="2000"/>
              <a:t>提升</a:t>
            </a:r>
            <a:r>
              <a:rPr lang="en-US" altLang="zh-CN" sz="2000"/>
              <a:t> RuyiSDK </a:t>
            </a:r>
            <a:r>
              <a:rPr lang="zh-CN" altLang="en-US" sz="2000"/>
              <a:t>的可信度与生态吸引力。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r>
              <a:rPr lang="zh-CN" altLang="en-US" sz="2200"/>
              <a:t>方法</a:t>
            </a:r>
            <a:r>
              <a:rPr lang="en-US" altLang="zh-CN" sz="2200"/>
              <a:t>：</a:t>
            </a:r>
            <a:endParaRPr lang="en-US" altLang="zh-CN" sz="2200"/>
          </a:p>
          <a:p>
            <a:r>
              <a:rPr lang="zh-CN" altLang="en-US" sz="2000"/>
              <a:t>以</a:t>
            </a:r>
            <a:r>
              <a:rPr lang="en-US" altLang="zh-CN" sz="2000"/>
              <a:t> RuyiSDK </a:t>
            </a:r>
            <a:r>
              <a:rPr lang="zh-CN" altLang="en-US" sz="2000"/>
              <a:t>作为辅助验证工具，统一测试入口</a:t>
            </a:r>
            <a:endParaRPr lang="en-US" altLang="zh-CN" sz="2000"/>
          </a:p>
          <a:p>
            <a:r>
              <a:rPr lang="zh-CN" altLang="en-US" sz="2000"/>
              <a:t>针对</a:t>
            </a:r>
            <a:r>
              <a:rPr lang="en-US" altLang="zh-CN" sz="2000"/>
              <a:t> </a:t>
            </a:r>
            <a:r>
              <a:rPr lang="zh-CN" altLang="en-US" sz="2000"/>
              <a:t>官方</a:t>
            </a:r>
            <a:r>
              <a:rPr lang="en-US" altLang="zh-CN" sz="2000"/>
              <a:t> Linux </a:t>
            </a:r>
            <a:r>
              <a:rPr lang="zh-CN" altLang="en-US" sz="2000"/>
              <a:t>发行版，完成系统安装与基础可用性验证</a:t>
            </a:r>
            <a:endParaRPr lang="zh-CN" altLang="en-US" sz="2000"/>
          </a:p>
          <a:p>
            <a:r>
              <a:rPr lang="zh-CN" altLang="en-US" sz="2000"/>
              <a:t>使用</a:t>
            </a:r>
            <a:r>
              <a:rPr lang="en-US" altLang="zh-CN" sz="2000"/>
              <a:t> RuyiSDK </a:t>
            </a:r>
            <a:r>
              <a:rPr lang="zh-CN" altLang="en-US" sz="2000"/>
              <a:t>工具链</a:t>
            </a:r>
            <a:r>
              <a:rPr lang="en-US" altLang="zh-CN" sz="2000"/>
              <a:t> </a:t>
            </a:r>
            <a:r>
              <a:rPr lang="zh-CN" altLang="en-US" sz="2000"/>
              <a:t>编译并运行基础示例程序</a:t>
            </a:r>
            <a:endParaRPr lang="zh-CN" altLang="en-US" sz="2000"/>
          </a:p>
          <a:p>
            <a:r>
              <a:rPr lang="zh-CN" altLang="en-US" sz="2000"/>
              <a:t>同步开发与维护</a:t>
            </a:r>
            <a:r>
              <a:rPr lang="en-US" altLang="zh-CN" sz="2000"/>
              <a:t> RuyiSDK Demo </a:t>
            </a:r>
            <a:r>
              <a:rPr lang="zh-CN" altLang="en-US" sz="2000"/>
              <a:t>示例（代码</a:t>
            </a:r>
            <a:r>
              <a:rPr lang="en-US" altLang="zh-CN" sz="2000"/>
              <a:t> / </a:t>
            </a:r>
            <a:r>
              <a:rPr lang="zh-CN" altLang="en-US" sz="2000"/>
              <a:t>文档</a:t>
            </a:r>
            <a:r>
              <a:rPr lang="en-US" altLang="zh-CN" sz="2000"/>
              <a:t> / </a:t>
            </a:r>
            <a:r>
              <a:rPr lang="zh-CN" altLang="en-US" sz="2000"/>
              <a:t>视频）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/>
              <a:t>我的角色定位与可交付成果</a:t>
            </a:r>
            <a:endParaRPr lang="zh-CN" alt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454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/>
              <a:t>角色定位</a:t>
            </a:r>
            <a:r>
              <a:rPr lang="en-US" altLang="zh-CN" sz="2000"/>
              <a:t>：RuyiSDK </a:t>
            </a:r>
            <a:r>
              <a:rPr lang="zh-CN" altLang="en-US" sz="2000"/>
              <a:t>生态质量与</a:t>
            </a:r>
            <a:r>
              <a:rPr lang="zh-CN" altLang="en-US" sz="2000"/>
              <a:t>辅助测试</a:t>
            </a:r>
            <a:endParaRPr lang="zh-CN" altLang="en-US" sz="2000"/>
          </a:p>
          <a:p>
            <a:pPr marL="0" indent="0">
              <a:buNone/>
            </a:pPr>
            <a:endParaRPr sz="2000"/>
          </a:p>
        </p:txBody>
      </p:sp>
      <p:sp>
        <p:nvSpPr>
          <p:cNvPr id="4" name="文本框 3"/>
          <p:cNvSpPr txBox="1"/>
          <p:nvPr/>
        </p:nvSpPr>
        <p:spPr>
          <a:xfrm>
            <a:off x="456565" y="2146300"/>
            <a:ext cx="4365625" cy="3256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latin typeface="Arial Bold" panose="020B0604020202090204" charset="0"/>
              </a:rPr>
              <a:t>工作方式</a:t>
            </a:r>
            <a:r>
              <a:rPr lang="en-US" altLang="zh-CN" b="1">
                <a:latin typeface="Arial Bold" panose="020B0604020202090204" charset="0"/>
              </a:rPr>
              <a:t>：</a:t>
            </a:r>
            <a:endParaRPr lang="en-US" altLang="zh-CN" b="1">
              <a:latin typeface="Arial Bold" panose="020B06040202020902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针对每块开发板形成验证记录：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zh-CN" altLang="en-US"/>
              <a:t>操作系统安装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zh-CN" altLang="en-US"/>
              <a:t>工具链编译</a:t>
            </a:r>
            <a:endParaRPr lang="zh-CN" altLang="en-US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zh-CN" altLang="en-US"/>
              <a:t>基础程序运行</a:t>
            </a:r>
            <a:endParaRPr lang="en-US" altLang="zh-CN"/>
          </a:p>
          <a:p>
            <a:pPr marL="342900" indent="-342900">
              <a:buFont typeface="Arial" panose="020B0604020202090204" pitchFamily="34" charset="0"/>
              <a:buAutoNum type="arabicPeriod"/>
            </a:pPr>
            <a:r>
              <a:rPr lang="zh-CN" altLang="en-US"/>
              <a:t>每一步配套</a:t>
            </a:r>
            <a:r>
              <a:rPr lang="en-US" altLang="zh-CN"/>
              <a:t> </a:t>
            </a:r>
            <a:r>
              <a:rPr lang="zh-CN" altLang="en-US"/>
              <a:t>截图、录屏与文档，明确标注</a:t>
            </a:r>
            <a:r>
              <a:rPr lang="en-US" altLang="zh-CN"/>
              <a:t> </a:t>
            </a:r>
            <a:r>
              <a:rPr lang="zh-CN" altLang="en-US"/>
              <a:t>已验证</a:t>
            </a:r>
            <a:r>
              <a:rPr lang="en-US" altLang="zh-CN"/>
              <a:t> / </a:t>
            </a:r>
            <a:r>
              <a:rPr lang="zh-CN" altLang="en-US"/>
              <a:t>未验证</a:t>
            </a:r>
            <a:endParaRPr lang="zh-CN" altLang="en-US"/>
          </a:p>
          <a:p>
            <a:pPr marL="342900" indent="-342900">
              <a:buFont typeface="Arial" panose="020B0604020202090204" pitchFamily="34" charset="0"/>
              <a:buAutoNum type="arabicPeriod"/>
            </a:pP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产出结果</a:t>
            </a:r>
            <a:r>
              <a:rPr lang="en-US" altLang="zh-CN"/>
              <a:t> </a:t>
            </a:r>
            <a:r>
              <a:rPr lang="zh-CN" altLang="en-US"/>
              <a:t>集成至</a:t>
            </a:r>
            <a:r>
              <a:rPr lang="en-US" altLang="zh-CN"/>
              <a:t> RuyiSDK </a:t>
            </a:r>
            <a:r>
              <a:rPr lang="zh-CN" altLang="en-US"/>
              <a:t>网站，并维护统一示例库</a:t>
            </a:r>
            <a:r>
              <a:rPr lang="zh-CN" altLang="en-US"/>
              <a:t>支持矩阵与测试状态维护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RuyiSDK Demo </a:t>
            </a:r>
            <a:r>
              <a:rPr lang="zh-CN" altLang="en-US">
                <a:sym typeface="+mn-ea"/>
              </a:rPr>
              <a:t>开发（代码、文档、视频）</a:t>
            </a:r>
            <a:endParaRPr lang="zh-CN" altLang="en-US">
              <a:sym typeface="+mn-ea"/>
            </a:endParaRPr>
          </a:p>
          <a:p>
            <a:pPr indent="0">
              <a:buFont typeface="Arial" panose="020B0604020202090204" pitchFamily="34" charset="0"/>
              <a:buNone/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998085" y="2718435"/>
            <a:ext cx="3859530" cy="2112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90204" pitchFamily="34" charset="0"/>
              <a:buNone/>
            </a:pPr>
            <a:r>
              <a:rPr lang="zh-CN" altLang="en-US" b="1">
                <a:latin typeface="Arial Bold" panose="020B0604020202090204" charset="0"/>
                <a:sym typeface="+mn-ea"/>
              </a:rPr>
              <a:t>产出</a:t>
            </a:r>
            <a:r>
              <a:rPr lang="en-US" altLang="zh-CN" b="1">
                <a:latin typeface="Arial Bold" panose="020B0604020202090204" charset="0"/>
                <a:sym typeface="+mn-ea"/>
              </a:rPr>
              <a:t>：</a:t>
            </a:r>
            <a:endParaRPr lang="en-US" altLang="zh-CN" b="1">
              <a:latin typeface="Arial Bold" panose="020B06040202020902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RISC-V </a:t>
            </a:r>
            <a:r>
              <a:rPr lang="zh-CN" altLang="en-US">
                <a:sym typeface="+mn-ea"/>
              </a:rPr>
              <a:t>开发板支持矩阵</a:t>
            </a:r>
            <a:endParaRPr lang="zh-CN" altLang="en-US"/>
          </a:p>
          <a:p>
            <a:pPr indent="0">
              <a:buFont typeface="Arial" panose="020B0604020202090204" pitchFamily="34" charset="0"/>
              <a:buNone/>
            </a:pP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每周持续更新）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sym typeface="+mn-ea"/>
              </a:rPr>
              <a:t>RuyiSDK </a:t>
            </a:r>
            <a:r>
              <a:rPr lang="zh-CN" altLang="en-US">
                <a:sym typeface="+mn-ea"/>
              </a:rPr>
              <a:t>网站上示例文档和操作系统工具链测试报告板块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每周持续更新）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2440" y="5736590"/>
            <a:ext cx="8512175" cy="9950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r>
              <a:rPr lang="zh-CN" altLang="en-US" b="1"/>
              <a:t>对</a:t>
            </a:r>
            <a:r>
              <a:rPr lang="en-US" altLang="zh-CN" b="1"/>
              <a:t> 2030 </a:t>
            </a:r>
            <a:r>
              <a:rPr lang="zh-CN" altLang="en-US" b="1"/>
              <a:t>目标的直接贡献</a:t>
            </a:r>
            <a:endParaRPr lang="zh-CN" altLang="en-US" b="1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为</a:t>
            </a:r>
            <a:r>
              <a:rPr lang="en-US" altLang="zh-CN"/>
              <a:t> RuyiSDK </a:t>
            </a:r>
            <a:r>
              <a:rPr lang="zh-CN" altLang="en-US"/>
              <a:t>提供可验证、可复用、可持续维护的质量基础</a:t>
            </a:r>
            <a:r>
              <a:rPr lang="en-US" altLang="zh-CN"/>
              <a:t>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降低开发者试错成本，增强厂商合作信心，支撑长期生态发展目标。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WPS 演示</Application>
  <PresentationFormat>On-screen Show (4:3)</PresentationFormat>
  <Paragraphs>62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Arial Bold</vt:lpstr>
      <vt:lpstr>汉仪书宋二KW</vt:lpstr>
      <vt:lpstr>Calibri</vt:lpstr>
      <vt:lpstr>Helvetica Neue</vt:lpstr>
      <vt:lpstr>宋体</vt:lpstr>
      <vt:lpstr>微软雅黑</vt:lpstr>
      <vt:lpstr>汉仪旗黑</vt:lpstr>
      <vt:lpstr>Arial Unicode MS</vt:lpstr>
      <vt:lpstr>Office Theme</vt:lpstr>
      <vt:lpstr>从 RuyiSDK 2030 百万开发者目标到落地执行路径</vt:lpstr>
      <vt:lpstr>支撑百万开发者的两条路径</vt:lpstr>
      <vt:lpstr>我的角色定位与可交付成果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张馥媛</cp:lastModifiedBy>
  <cp:revision>8</cp:revision>
  <dcterms:created xsi:type="dcterms:W3CDTF">2026-01-16T09:04:21Z</dcterms:created>
  <dcterms:modified xsi:type="dcterms:W3CDTF">2026-01-16T09:04:21Z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1D94C2AE4B2ADA9F8448686948F14646_43</vt:lpwstr>
  </property>
</Properties>
</file>